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0" autoAdjust="0"/>
    <p:restoredTop sz="95017" autoAdjust="0"/>
  </p:normalViewPr>
  <p:slideViewPr>
    <p:cSldViewPr snapToGrid="0">
      <p:cViewPr varScale="1">
        <p:scale>
          <a:sx n="101" d="100"/>
          <a:sy n="101" d="100"/>
        </p:scale>
        <p:origin x="15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9229-C171-7232-DEB5-41375FB1D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CB34D-DFAE-F0BC-AB07-8A14A8632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2FE12-E848-48E0-EF6A-9DBE8B55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0217A-5F06-0038-8C6C-45D03DD3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D12E2-C3EE-88C8-CB58-B79DD5B4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6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3845-7E89-9F33-2015-AB90F8B2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BD7AF-91ED-27D6-A888-1C02DE4D2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08302-F207-F387-1AC2-24E19AD7B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7116F-DDD3-5965-5908-7B56EEBE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049C9-8BB5-F91C-3A8F-C627AF9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7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1A2B-D325-C2ED-46CB-36BE929B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D1682-A96B-AF80-7D0B-2D063B421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03626-67FF-C88E-8894-BC8315C7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CB976-7746-A4C4-A227-5468C383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6CEA4-2D15-8647-911E-7766068D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2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3E1D-620B-02B7-6941-14E9F83D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0DB9-9441-BA9B-243C-C10255B4D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E2C9B-41FF-C174-3735-C64D3F78F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C021F-4C62-A93D-2B61-752CAB82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BB8F2-ED8E-D9F7-E0B9-57396762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321FA-01F2-76E4-60C5-34EE6E60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0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CEC7-E965-40C2-0187-5AA2D6C3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33959-6989-4D12-0C41-36FE96D69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10AC0-D443-4F2B-539B-B955FB587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A64C4-3993-D103-2CB2-FEEB26C20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08FDF-1466-8096-029D-3F54CF481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9B51B9-E5FB-1A1B-FE52-F0853C6EB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849D0A-AC1C-BAFA-D1A5-C6A4AFD7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60B5F-8525-60A2-34B5-37C5AB87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8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782B-6ABC-CDEB-EE7A-09041F875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C2D155-5337-1597-0F7C-A7026F03E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66CAA-B8FC-E190-234E-12630B7B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16687-A6D4-72B7-FB50-3D2D83C9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6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154A1-7B2C-7E4C-8A7F-BBEF33E4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2DFCB-FBD9-6683-8633-26369C20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B1EEF-FE0D-062D-FB5A-3A5DEF41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2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F2B9-3497-A80E-CFE0-B8BEBC77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76B62-6840-B230-C88A-BF520FCE5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A16BA-DCE8-A14D-FB0B-B0AFCEB07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B5F6E-A89E-34FF-4203-7B5DB041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419E0-F40F-4A94-1C0B-285567814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F397F-4150-FE43-ED99-26CF137D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6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1AAD-5D31-C059-AA29-D211A8E53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6AAD26-D4AA-A22B-0401-FA6A1D165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37141-52E9-DEE7-2ACB-AED74E3FB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DFC47-F1F3-4234-E6DB-58CB48E9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29FC0-4411-B45B-146E-1AB0D1B6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23500-185B-B565-336E-BECD1845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0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4A2B5-8891-0F97-2208-190D94E27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52DB6-2F2B-D02C-3934-84ACF54A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367F-9C24-3616-FCBE-1DF2583C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C4EC7-8A2B-ADA7-B064-525234CD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1CECC-A793-49E3-B979-1CF5CAC3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6885CF-C4A9-0179-DCA4-656E904CC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07F3D-03B9-B95A-6155-C1DE6586D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65519-4274-8F47-8D9A-275EDF19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07178-0E5D-D0D0-641D-5732213A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4ED6E-B6C7-57E4-14FC-B00D4499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6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5DA8A-E9B6-2832-5C60-CA7683D0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91D61-B2C7-3206-81BF-AED4907FF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08C2-C315-204B-6B10-5BA9BD01E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37E98-7ACB-44FE-98EC-123906949B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1AFAB-1101-A4F2-9988-3225997D4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1AE74-BB5A-4F83-66FD-2C30739B9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C15A3-8DBF-4D2B-8D0D-4596E524B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8.xm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4.png"/><Relationship Id="rId2" Type="http://schemas.openxmlformats.org/officeDocument/2006/relationships/image" Target="../media/image5.png"/><Relationship Id="rId16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slide" Target="slide4.xml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4" Type="http://schemas.openxmlformats.org/officeDocument/2006/relationships/slide" Target="slide7.xml"/><Relationship Id="rId9" Type="http://schemas.openxmlformats.org/officeDocument/2006/relationships/image" Target="../media/image9.png"/><Relationship Id="rId1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3.xml"/><Relationship Id="rId7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slide" Target="slide10.xml"/><Relationship Id="rId4" Type="http://schemas.openxmlformats.org/officeDocument/2006/relationships/image" Target="../media/image11.png"/><Relationship Id="rId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slide" Target="slide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slide" Target="slide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slide" Target="slid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601E-4C42-504E-41C6-D7229AB551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Calibrator Logic 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42C8B-DBB0-517F-1A94-35481A7ADA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2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2FE1F24-C17D-2CE9-31AB-3A031F01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467" y="189145"/>
            <a:ext cx="2843812" cy="71722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Main Menu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325EA4-6977-E4DC-7E19-8E25A8E56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912" y="726324"/>
            <a:ext cx="7531581" cy="9489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EAE3E7-3194-AF7F-6B92-13909219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220" y="2374185"/>
            <a:ext cx="3356311" cy="35390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512AC2-DE07-E2D5-A749-90AF67B64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941" y="3837268"/>
            <a:ext cx="4255062" cy="2939796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6FEE37E-B394-6F89-5F1A-59FFD9891CCC}"/>
              </a:ext>
            </a:extLst>
          </p:cNvPr>
          <p:cNvCxnSpPr>
            <a:cxnSpLocks/>
            <a:stCxn id="3" idx="1"/>
            <a:endCxn id="26" idx="3"/>
          </p:cNvCxnSpPr>
          <p:nvPr/>
        </p:nvCxnSpPr>
        <p:spPr>
          <a:xfrm rot="10800000">
            <a:off x="1439545" y="1461949"/>
            <a:ext cx="2957138" cy="2516888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62E653E-FD18-1A15-BD84-7D3075112C89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5301500" y="4395780"/>
            <a:ext cx="1740441" cy="911386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9A4DFDB-7FB9-2DAC-DE36-0F4B1BEEC056}"/>
              </a:ext>
            </a:extLst>
          </p:cNvPr>
          <p:cNvSpPr txBox="1"/>
          <p:nvPr/>
        </p:nvSpPr>
        <p:spPr>
          <a:xfrm>
            <a:off x="7787152" y="3652602"/>
            <a:ext cx="276463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5" action="ppaction://hlinksldjump"/>
              </a:rPr>
              <a:t>CalibrateFilesWindow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681AF3-397C-A685-CA12-86A5B82E83B5}"/>
              </a:ext>
            </a:extLst>
          </p:cNvPr>
          <p:cNvSpPr txBox="1"/>
          <p:nvPr/>
        </p:nvSpPr>
        <p:spPr>
          <a:xfrm>
            <a:off x="9378635" y="1258148"/>
            <a:ext cx="217500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6" action="ppaction://hlinksldjump"/>
              </a:rPr>
              <a:t>CalibrationIO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Exports </a:t>
            </a:r>
            <a:r>
              <a:rPr lang="en-US" sz="1200" dirty="0" err="1"/>
              <a:t>json</a:t>
            </a:r>
            <a:r>
              <a:rPr lang="en-US" sz="1200" dirty="0"/>
              <a:t> of calibrations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Exports </a:t>
            </a:r>
            <a:r>
              <a:rPr lang="en-US" sz="1200" dirty="0" err="1"/>
              <a:t>json</a:t>
            </a:r>
            <a:r>
              <a:rPr lang="en-US" sz="1200" dirty="0"/>
              <a:t> of spectra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Includes metadata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58B9A-1F8D-C6C6-5A6D-A1710A9E4230}"/>
              </a:ext>
            </a:extLst>
          </p:cNvPr>
          <p:cNvSpPr/>
          <p:nvPr/>
        </p:nvSpPr>
        <p:spPr>
          <a:xfrm>
            <a:off x="4396683" y="3849441"/>
            <a:ext cx="909832" cy="2587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47D043-063D-FBEB-65A5-F04D41881BE5}"/>
              </a:ext>
            </a:extLst>
          </p:cNvPr>
          <p:cNvSpPr/>
          <p:nvPr/>
        </p:nvSpPr>
        <p:spPr>
          <a:xfrm>
            <a:off x="4391668" y="4266384"/>
            <a:ext cx="909832" cy="2587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DDAD83E-F06F-93F6-AD38-5D6E0C2888C0}"/>
              </a:ext>
            </a:extLst>
          </p:cNvPr>
          <p:cNvCxnSpPr>
            <a:cxnSpLocks/>
            <a:stCxn id="8" idx="3"/>
            <a:endCxn id="2" idx="1"/>
          </p:cNvCxnSpPr>
          <p:nvPr/>
        </p:nvCxnSpPr>
        <p:spPr>
          <a:xfrm>
            <a:off x="8899493" y="1200794"/>
            <a:ext cx="479142" cy="519019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CE0A921-169C-4487-D048-2C4B75300F37}"/>
              </a:ext>
            </a:extLst>
          </p:cNvPr>
          <p:cNvSpPr/>
          <p:nvPr/>
        </p:nvSpPr>
        <p:spPr>
          <a:xfrm>
            <a:off x="8729932" y="4056438"/>
            <a:ext cx="2467155" cy="12852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3CE62C9-7504-E9E5-CB7C-2DD11D871A34}"/>
              </a:ext>
            </a:extLst>
          </p:cNvPr>
          <p:cNvCxnSpPr>
            <a:cxnSpLocks/>
            <a:stCxn id="2" idx="3"/>
            <a:endCxn id="18" idx="3"/>
          </p:cNvCxnSpPr>
          <p:nvPr/>
        </p:nvCxnSpPr>
        <p:spPr>
          <a:xfrm flipH="1">
            <a:off x="11197087" y="1719813"/>
            <a:ext cx="356548" cy="2979241"/>
          </a:xfrm>
          <a:prstGeom prst="bentConnector3">
            <a:avLst>
              <a:gd name="adj1" fmla="val -64115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5C5A43-7CAF-84C1-E593-271E6F8F34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1" y="736766"/>
            <a:ext cx="1354494" cy="14503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A25FDE-4896-2F4D-8517-69A5156ABD28}"/>
              </a:ext>
            </a:extLst>
          </p:cNvPr>
          <p:cNvSpPr txBox="1"/>
          <p:nvPr/>
        </p:nvSpPr>
        <p:spPr>
          <a:xfrm>
            <a:off x="762298" y="546879"/>
            <a:ext cx="219269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8" action="ppaction://hlinksldjump"/>
              </a:rPr>
              <a:t>CalibrationWindow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B44DEA-3DDF-4165-C361-B4BBDB78088C}"/>
              </a:ext>
            </a:extLst>
          </p:cNvPr>
          <p:cNvSpPr txBox="1"/>
          <p:nvPr/>
        </p:nvSpPr>
        <p:spPr>
          <a:xfrm>
            <a:off x="468327" y="5341670"/>
            <a:ext cx="2435188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SettingsWindow</a:t>
            </a:r>
            <a:r>
              <a:rPr lang="en-US" dirty="0"/>
              <a:t> (WIP)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Not implemented yet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E5E5A641-E253-8965-8EAB-D89ABC6A450E}"/>
              </a:ext>
            </a:extLst>
          </p:cNvPr>
          <p:cNvCxnSpPr>
            <a:cxnSpLocks/>
            <a:stCxn id="60" idx="1"/>
            <a:endCxn id="35" idx="0"/>
          </p:cNvCxnSpPr>
          <p:nvPr/>
        </p:nvCxnSpPr>
        <p:spPr>
          <a:xfrm rot="10800000" flipV="1">
            <a:off x="1685921" y="4816130"/>
            <a:ext cx="2808440" cy="525539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B3AA060C-8823-21AB-D101-0322E9D3F4C6}"/>
              </a:ext>
            </a:extLst>
          </p:cNvPr>
          <p:cNvSpPr/>
          <p:nvPr/>
        </p:nvSpPr>
        <p:spPr>
          <a:xfrm>
            <a:off x="4494361" y="4686735"/>
            <a:ext cx="686225" cy="2587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8EB384-84B2-68AE-53EB-C2EE8AC8D4A2}"/>
              </a:ext>
            </a:extLst>
          </p:cNvPr>
          <p:cNvSpPr txBox="1"/>
          <p:nvPr/>
        </p:nvSpPr>
        <p:spPr>
          <a:xfrm>
            <a:off x="62300" y="2166299"/>
            <a:ext cx="1585345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DataSet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Calibration: True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756A74-ADFD-A22E-4B59-02E4B659090A}"/>
              </a:ext>
            </a:extLst>
          </p:cNvPr>
          <p:cNvSpPr txBox="1"/>
          <p:nvPr/>
        </p:nvSpPr>
        <p:spPr>
          <a:xfrm>
            <a:off x="6943156" y="5677724"/>
            <a:ext cx="1687991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DataSet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Calibration: False</a:t>
            </a:r>
          </a:p>
        </p:txBody>
      </p:sp>
    </p:spTree>
    <p:extLst>
      <p:ext uri="{BB962C8B-B14F-4D97-AF65-F5344CB8AC3E}">
        <p14:creationId xmlns:p14="http://schemas.microsoft.com/office/powerpoint/2010/main" val="317100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1">
            <a:extLst>
              <a:ext uri="{FF2B5EF4-FFF2-40B4-BE49-F238E27FC236}">
                <a16:creationId xmlns:a16="http://schemas.microsoft.com/office/drawing/2014/main" id="{2CB020FA-EB79-F72B-D739-C84C0EA67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035" y="2391101"/>
            <a:ext cx="1885715" cy="18036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F201B-664E-D386-ACEA-80358D5F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314" y="29946"/>
            <a:ext cx="5399999" cy="717226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CalibrationWindow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BD74AC-8B47-9B63-596E-D5775D598C9A}"/>
              </a:ext>
            </a:extLst>
          </p:cNvPr>
          <p:cNvGrpSpPr/>
          <p:nvPr/>
        </p:nvGrpSpPr>
        <p:grpSpPr>
          <a:xfrm>
            <a:off x="299880" y="87554"/>
            <a:ext cx="1354494" cy="1770036"/>
            <a:chOff x="134685" y="1952226"/>
            <a:chExt cx="1354494" cy="1770036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9A575CA-D677-5D53-A6C1-EAC77175E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685" y="2271896"/>
              <a:ext cx="1354494" cy="145036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254242-22B0-A322-3D3B-906F17AC5B9B}"/>
                </a:ext>
              </a:extLst>
            </p:cNvPr>
            <p:cNvSpPr txBox="1"/>
            <p:nvPr/>
          </p:nvSpPr>
          <p:spPr>
            <a:xfrm>
              <a:off x="134685" y="1952226"/>
              <a:ext cx="135449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DataView</a:t>
              </a:r>
              <a:endParaRPr lang="en-US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5757D2A-F9F3-ECE8-46F7-4F0B6A429EB4}"/>
              </a:ext>
            </a:extLst>
          </p:cNvPr>
          <p:cNvSpPr txBox="1"/>
          <p:nvPr/>
        </p:nvSpPr>
        <p:spPr>
          <a:xfrm>
            <a:off x="166335" y="1977702"/>
            <a:ext cx="1171177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ScrollFrame</a:t>
            </a:r>
            <a:r>
              <a:rPr lang="en-US" dirty="0"/>
              <a:t>(s)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901800-C499-F34C-B1BB-47C8BC1CB24B}"/>
              </a:ext>
            </a:extLst>
          </p:cNvPr>
          <p:cNvSpPr txBox="1"/>
          <p:nvPr/>
        </p:nvSpPr>
        <p:spPr>
          <a:xfrm>
            <a:off x="4187766" y="5100069"/>
            <a:ext cx="240729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4" action="ppaction://hlinksldjump"/>
              </a:rPr>
              <a:t>ControlRelations</a:t>
            </a:r>
            <a:endParaRPr lang="en-US" dirty="0"/>
          </a:p>
          <a:p>
            <a:pPr algn="ctr"/>
            <a:r>
              <a:rPr lang="en-US" sz="1200" dirty="0"/>
              <a:t>Assigns controls</a:t>
            </a:r>
          </a:p>
          <a:p>
            <a:pPr algn="ctr"/>
            <a:r>
              <a:rPr lang="en-US" sz="1200" dirty="0"/>
              <a:t>Defines input/output parameters</a:t>
            </a:r>
          </a:p>
          <a:p>
            <a:pPr algn="ctr"/>
            <a:r>
              <a:rPr lang="en-US" sz="1200" dirty="0"/>
              <a:t>Identifies Populations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A53A4B-FAEA-AD61-610F-BBD370C7E917}"/>
              </a:ext>
            </a:extLst>
          </p:cNvPr>
          <p:cNvSpPr txBox="1"/>
          <p:nvPr/>
        </p:nvSpPr>
        <p:spPr>
          <a:xfrm>
            <a:off x="829270" y="5725593"/>
            <a:ext cx="2829122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5" action="ppaction://hlinksldjump"/>
              </a:rPr>
              <a:t>DataSet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Calibration: True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Sample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Fluor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Controls and Samples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30DB80-10FB-FBE3-00A2-7EEFDD33E4C7}"/>
              </a:ext>
            </a:extLst>
          </p:cNvPr>
          <p:cNvGrpSpPr/>
          <p:nvPr/>
        </p:nvGrpSpPr>
        <p:grpSpPr>
          <a:xfrm>
            <a:off x="2034659" y="614269"/>
            <a:ext cx="2257439" cy="1303376"/>
            <a:chOff x="383805" y="373864"/>
            <a:chExt cx="2908651" cy="155927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C99D1A9-08EF-2242-EC65-C364B9C2C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3805" y="373864"/>
              <a:ext cx="2908651" cy="1559277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83FBE2-6642-38D9-D2C5-D6DCA2E0D50A}"/>
                </a:ext>
              </a:extLst>
            </p:cNvPr>
            <p:cNvSpPr txBox="1"/>
            <p:nvPr/>
          </p:nvSpPr>
          <p:spPr>
            <a:xfrm>
              <a:off x="384596" y="1189762"/>
              <a:ext cx="2907067" cy="4418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CalibrationWindow</a:t>
              </a:r>
              <a:endParaRPr lang="en-US" dirty="0"/>
            </a:p>
          </p:txBody>
        </p:sp>
      </p:grp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26E2915-D266-2F4E-BF60-64B694FC3667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 flipV="1">
            <a:off x="3658392" y="5561734"/>
            <a:ext cx="529374" cy="7178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EA5EF2B-CFCB-BBB4-A5B4-782BB06BCF52}"/>
              </a:ext>
            </a:extLst>
          </p:cNvPr>
          <p:cNvCxnSpPr>
            <a:cxnSpLocks/>
            <a:stCxn id="29" idx="1"/>
            <a:endCxn id="21" idx="1"/>
          </p:cNvCxnSpPr>
          <p:nvPr/>
        </p:nvCxnSpPr>
        <p:spPr>
          <a:xfrm rot="10800000" flipH="1" flipV="1">
            <a:off x="299880" y="1132407"/>
            <a:ext cx="529390" cy="5147184"/>
          </a:xfrm>
          <a:prstGeom prst="bentConnector3">
            <a:avLst>
              <a:gd name="adj1" fmla="val -431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723C5222-8ECC-E40C-544E-D519F40222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262" y="2048568"/>
            <a:ext cx="1468320" cy="1396215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25018F0-083C-CB82-A5FB-06DC86680BBC}"/>
              </a:ext>
            </a:extLst>
          </p:cNvPr>
          <p:cNvCxnSpPr>
            <a:cxnSpLocks/>
            <a:stCxn id="38" idx="2"/>
            <a:endCxn id="20" idx="1"/>
          </p:cNvCxnSpPr>
          <p:nvPr/>
        </p:nvCxnSpPr>
        <p:spPr>
          <a:xfrm rot="16200000" flipH="1">
            <a:off x="1477619" y="2851586"/>
            <a:ext cx="2116951" cy="33033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8B09ED9-B3AD-1C5F-FE94-E4B88FEA9722}"/>
              </a:ext>
            </a:extLst>
          </p:cNvPr>
          <p:cNvCxnSpPr>
            <a:cxnSpLocks/>
            <a:stCxn id="280" idx="2"/>
            <a:endCxn id="20" idx="1"/>
          </p:cNvCxnSpPr>
          <p:nvPr/>
        </p:nvCxnSpPr>
        <p:spPr>
          <a:xfrm rot="16200000" flipH="1">
            <a:off x="2939950" y="4313918"/>
            <a:ext cx="1966258" cy="5293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48CAD08-2AAB-9957-6CCD-D9D4E406DF06}"/>
              </a:ext>
            </a:extLst>
          </p:cNvPr>
          <p:cNvCxnSpPr>
            <a:cxnSpLocks/>
            <a:stCxn id="137" idx="2"/>
            <a:endCxn id="20" idx="1"/>
          </p:cNvCxnSpPr>
          <p:nvPr/>
        </p:nvCxnSpPr>
        <p:spPr>
          <a:xfrm rot="16200000" flipH="1">
            <a:off x="2276119" y="3650087"/>
            <a:ext cx="2366356" cy="14569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A576087-42FF-5450-C6BC-E37E734289AE}"/>
              </a:ext>
            </a:extLst>
          </p:cNvPr>
          <p:cNvCxnSpPr>
            <a:stCxn id="25" idx="1"/>
            <a:endCxn id="29" idx="3"/>
          </p:cNvCxnSpPr>
          <p:nvPr/>
        </p:nvCxnSpPr>
        <p:spPr>
          <a:xfrm flipH="1" flipV="1">
            <a:off x="1654374" y="1132407"/>
            <a:ext cx="380285" cy="133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077750E-1F6F-0679-5DEA-86B92E4D19E9}"/>
              </a:ext>
            </a:extLst>
          </p:cNvPr>
          <p:cNvCxnSpPr>
            <a:cxnSpLocks/>
            <a:stCxn id="25" idx="3"/>
            <a:endCxn id="15" idx="0"/>
          </p:cNvCxnSpPr>
          <p:nvPr/>
        </p:nvCxnSpPr>
        <p:spPr>
          <a:xfrm>
            <a:off x="4292098" y="1265957"/>
            <a:ext cx="1730125" cy="711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7">
            <a:extLst>
              <a:ext uri="{FF2B5EF4-FFF2-40B4-BE49-F238E27FC236}">
                <a16:creationId xmlns:a16="http://schemas.microsoft.com/office/drawing/2014/main" id="{BFDE166E-EA94-6F1B-94E8-6A3904FD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6608" y="2323212"/>
            <a:ext cx="1997381" cy="128812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2B09D618-13ED-1F81-F839-940A39BA62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4446" y="2272843"/>
            <a:ext cx="1552694" cy="1165942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25D577-4F3A-6E60-DA1D-A91F549F1C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3241" y="2211082"/>
            <a:ext cx="2275175" cy="984296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C402BC89-16AC-174D-6475-89CF8F0724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8594" y="1031511"/>
            <a:ext cx="2607306" cy="1172891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95D93AC0-8D62-A3A9-D243-ECCED543AF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98976" y="2432993"/>
            <a:ext cx="1489309" cy="1550724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05F7CA72-AF00-8B5A-1BDB-B4703CCECB5C}"/>
              </a:ext>
            </a:extLst>
          </p:cNvPr>
          <p:cNvSpPr txBox="1"/>
          <p:nvPr/>
        </p:nvSpPr>
        <p:spPr>
          <a:xfrm>
            <a:off x="7124438" y="4543506"/>
            <a:ext cx="240729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13" action="ppaction://hlinksldjump"/>
              </a:rPr>
              <a:t>SpectralCalibration</a:t>
            </a:r>
            <a:endParaRPr lang="en-US" dirty="0"/>
          </a:p>
          <a:p>
            <a:pPr algn="ctr"/>
            <a:r>
              <a:rPr lang="en-US" sz="1200" dirty="0"/>
              <a:t>Unmixing/Compensation</a:t>
            </a:r>
          </a:p>
          <a:p>
            <a:pPr algn="ctr"/>
            <a:r>
              <a:rPr lang="en-US" sz="1200" dirty="0"/>
              <a:t>Metadata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5E8CF39-9F24-47D8-6B0D-DCD2002F465A}"/>
              </a:ext>
            </a:extLst>
          </p:cNvPr>
          <p:cNvSpPr txBox="1"/>
          <p:nvPr/>
        </p:nvSpPr>
        <p:spPr>
          <a:xfrm>
            <a:off x="9810010" y="5620401"/>
            <a:ext cx="206810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14" action="ppaction://hlinksldjump"/>
              </a:rPr>
              <a:t>Calibrations</a:t>
            </a:r>
            <a:endParaRPr lang="en-US" dirty="0"/>
          </a:p>
          <a:p>
            <a:pPr algn="ctr"/>
            <a:r>
              <a:rPr lang="en-US" sz="1200" dirty="0"/>
              <a:t>Calibrations: ABC, MESF, Scatter, Size, Photoelectrons</a:t>
            </a:r>
          </a:p>
        </p:txBody>
      </p: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F6EBFE50-B0BA-5278-C3BF-8A5BB7813DA4}"/>
              </a:ext>
            </a:extLst>
          </p:cNvPr>
          <p:cNvCxnSpPr>
            <a:stCxn id="98" idx="2"/>
            <a:endCxn id="20" idx="0"/>
          </p:cNvCxnSpPr>
          <p:nvPr/>
        </p:nvCxnSpPr>
        <p:spPr>
          <a:xfrm rot="5400000">
            <a:off x="4933993" y="4068762"/>
            <a:ext cx="1488729" cy="5738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69E2BF89-339B-A9AE-6848-74E216740A9B}"/>
              </a:ext>
            </a:extLst>
          </p:cNvPr>
          <p:cNvCxnSpPr>
            <a:cxnSpLocks/>
            <a:stCxn id="135" idx="2"/>
            <a:endCxn id="161" idx="1"/>
          </p:cNvCxnSpPr>
          <p:nvPr/>
        </p:nvCxnSpPr>
        <p:spPr>
          <a:xfrm rot="5400000">
            <a:off x="6570590" y="3992634"/>
            <a:ext cx="1474053" cy="366355"/>
          </a:xfrm>
          <a:prstGeom prst="bentConnector4">
            <a:avLst>
              <a:gd name="adj1" fmla="val 37472"/>
              <a:gd name="adj2" fmla="val 1623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0" name="Picture 179">
            <a:extLst>
              <a:ext uri="{FF2B5EF4-FFF2-40B4-BE49-F238E27FC236}">
                <a16:creationId xmlns:a16="http://schemas.microsoft.com/office/drawing/2014/main" id="{B5A6C648-123F-CCF1-A20B-10AC1858AF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82451" y="1124433"/>
            <a:ext cx="1578163" cy="1061289"/>
          </a:xfrm>
          <a:prstGeom prst="rect">
            <a:avLst/>
          </a:prstGeom>
        </p:spPr>
      </p:pic>
      <p:cxnSp>
        <p:nvCxnSpPr>
          <p:cNvPr id="194" name="Connector: Elbow 193">
            <a:extLst>
              <a:ext uri="{FF2B5EF4-FFF2-40B4-BE49-F238E27FC236}">
                <a16:creationId xmlns:a16="http://schemas.microsoft.com/office/drawing/2014/main" id="{8F9863CD-77BC-9ACA-6511-6DF023A14EFB}"/>
              </a:ext>
            </a:extLst>
          </p:cNvPr>
          <p:cNvCxnSpPr>
            <a:cxnSpLocks/>
            <a:stCxn id="20" idx="3"/>
            <a:endCxn id="161" idx="2"/>
          </p:cNvCxnSpPr>
          <p:nvPr/>
        </p:nvCxnSpPr>
        <p:spPr>
          <a:xfrm flipV="1">
            <a:off x="6595064" y="5282170"/>
            <a:ext cx="1733023" cy="2795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8C87A032-F587-4384-3CCE-75784A46D98E}"/>
              </a:ext>
            </a:extLst>
          </p:cNvPr>
          <p:cNvCxnSpPr>
            <a:cxnSpLocks/>
            <a:stCxn id="20" idx="3"/>
            <a:endCxn id="162" idx="1"/>
          </p:cNvCxnSpPr>
          <p:nvPr/>
        </p:nvCxnSpPr>
        <p:spPr>
          <a:xfrm>
            <a:off x="6595064" y="5561734"/>
            <a:ext cx="3214946" cy="427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E5E59F49-42D2-A549-9857-2874DE632D89}"/>
              </a:ext>
            </a:extLst>
          </p:cNvPr>
          <p:cNvCxnSpPr>
            <a:cxnSpLocks/>
            <a:stCxn id="161" idx="3"/>
            <a:endCxn id="162" idx="1"/>
          </p:cNvCxnSpPr>
          <p:nvPr/>
        </p:nvCxnSpPr>
        <p:spPr>
          <a:xfrm>
            <a:off x="9531736" y="4912838"/>
            <a:ext cx="278274" cy="10768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: Elbow 230">
            <a:extLst>
              <a:ext uri="{FF2B5EF4-FFF2-40B4-BE49-F238E27FC236}">
                <a16:creationId xmlns:a16="http://schemas.microsoft.com/office/drawing/2014/main" id="{CCB645E1-7D56-BBC5-3CFC-01862F4986B7}"/>
              </a:ext>
            </a:extLst>
          </p:cNvPr>
          <p:cNvCxnSpPr>
            <a:cxnSpLocks/>
            <a:stCxn id="152" idx="2"/>
            <a:endCxn id="162" idx="0"/>
          </p:cNvCxnSpPr>
          <p:nvPr/>
        </p:nvCxnSpPr>
        <p:spPr>
          <a:xfrm rot="16200000" flipH="1">
            <a:off x="9486134" y="4262475"/>
            <a:ext cx="1425684" cy="1290167"/>
          </a:xfrm>
          <a:prstGeom prst="bentConnector3">
            <a:avLst>
              <a:gd name="adj1" fmla="val 226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43B45309-C8D2-C2A9-17F8-DA51CCD87E47}"/>
              </a:ext>
            </a:extLst>
          </p:cNvPr>
          <p:cNvCxnSpPr>
            <a:cxnSpLocks/>
            <a:stCxn id="162" idx="3"/>
            <a:endCxn id="150" idx="3"/>
          </p:cNvCxnSpPr>
          <p:nvPr/>
        </p:nvCxnSpPr>
        <p:spPr>
          <a:xfrm flipH="1" flipV="1">
            <a:off x="11688285" y="3208355"/>
            <a:ext cx="189825" cy="2781378"/>
          </a:xfrm>
          <a:prstGeom prst="bentConnector3">
            <a:avLst>
              <a:gd name="adj1" fmla="val -1204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: Elbow 244">
            <a:extLst>
              <a:ext uri="{FF2B5EF4-FFF2-40B4-BE49-F238E27FC236}">
                <a16:creationId xmlns:a16="http://schemas.microsoft.com/office/drawing/2014/main" id="{9AC9B62F-49EB-ADFC-B447-5215A5F4F041}"/>
              </a:ext>
            </a:extLst>
          </p:cNvPr>
          <p:cNvCxnSpPr>
            <a:cxnSpLocks/>
            <a:stCxn id="161" idx="0"/>
            <a:endCxn id="152" idx="1"/>
          </p:cNvCxnSpPr>
          <p:nvPr/>
        </p:nvCxnSpPr>
        <p:spPr>
          <a:xfrm rot="5400000" flipH="1" flipV="1">
            <a:off x="7844263" y="3776734"/>
            <a:ext cx="1250597" cy="2829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A974B7BC-A6EE-4CE6-18F0-434CAE0CC3F6}"/>
              </a:ext>
            </a:extLst>
          </p:cNvPr>
          <p:cNvCxnSpPr>
            <a:cxnSpLocks/>
            <a:stCxn id="180" idx="0"/>
            <a:endCxn id="261" idx="2"/>
          </p:cNvCxnSpPr>
          <p:nvPr/>
        </p:nvCxnSpPr>
        <p:spPr>
          <a:xfrm flipH="1" flipV="1">
            <a:off x="11122803" y="656512"/>
            <a:ext cx="248730" cy="46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9D10071-9170-5C94-4785-D019F2C65097}"/>
              </a:ext>
            </a:extLst>
          </p:cNvPr>
          <p:cNvSpPr/>
          <p:nvPr/>
        </p:nvSpPr>
        <p:spPr>
          <a:xfrm>
            <a:off x="10084992" y="272220"/>
            <a:ext cx="2075621" cy="384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 Calibrations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18A8408-2BA2-8138-AD98-24A570D0C8E6}"/>
              </a:ext>
            </a:extLst>
          </p:cNvPr>
          <p:cNvSpPr txBox="1"/>
          <p:nvPr/>
        </p:nvSpPr>
        <p:spPr>
          <a:xfrm>
            <a:off x="1858847" y="48791"/>
            <a:ext cx="135449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16" action="ppaction://hlinksldjump"/>
              </a:rPr>
              <a:t>MainMenu</a:t>
            </a:r>
            <a:endParaRPr lang="en-US" dirty="0"/>
          </a:p>
        </p:txBody>
      </p: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635D1A00-5AB2-68D4-6DA1-3F2CDF517FBD}"/>
              </a:ext>
            </a:extLst>
          </p:cNvPr>
          <p:cNvCxnSpPr>
            <a:cxnSpLocks/>
            <a:stCxn id="270" idx="2"/>
            <a:endCxn id="25" idx="0"/>
          </p:cNvCxnSpPr>
          <p:nvPr/>
        </p:nvCxnSpPr>
        <p:spPr>
          <a:xfrm>
            <a:off x="2536094" y="418123"/>
            <a:ext cx="627285" cy="196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0" name="Picture 279">
            <a:extLst>
              <a:ext uri="{FF2B5EF4-FFF2-40B4-BE49-F238E27FC236}">
                <a16:creationId xmlns:a16="http://schemas.microsoft.com/office/drawing/2014/main" id="{A197ABD5-D11E-D93D-945C-73D718BDD6B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93127" y="2496487"/>
            <a:ext cx="2530532" cy="109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9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933F7CA-AD61-9127-48A1-0DC1E7F17677}"/>
              </a:ext>
            </a:extLst>
          </p:cNvPr>
          <p:cNvSpPr/>
          <p:nvPr/>
        </p:nvSpPr>
        <p:spPr>
          <a:xfrm>
            <a:off x="254259" y="3721111"/>
            <a:ext cx="5769429" cy="29583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F0"/>
                </a:solidFill>
              </a:ln>
              <a:noFill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26A28C-6BED-34A9-49F9-361FF0EF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651" y="178513"/>
            <a:ext cx="2461940" cy="717226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DataSet</a:t>
            </a:r>
            <a:endParaRPr lang="en-US" dirty="0"/>
          </a:p>
        </p:txBody>
      </p:sp>
      <p:sp>
        <p:nvSpPr>
          <p:cNvPr id="7" name="Flowchart: Multidocument 6">
            <a:extLst>
              <a:ext uri="{FF2B5EF4-FFF2-40B4-BE49-F238E27FC236}">
                <a16:creationId xmlns:a16="http://schemas.microsoft.com/office/drawing/2014/main" id="{56A4CD08-AD69-61B0-A0C0-CF1EB8E05567}"/>
              </a:ext>
            </a:extLst>
          </p:cNvPr>
          <p:cNvSpPr/>
          <p:nvPr/>
        </p:nvSpPr>
        <p:spPr>
          <a:xfrm>
            <a:off x="6603732" y="1504246"/>
            <a:ext cx="2015412" cy="1660849"/>
          </a:xfrm>
          <a:prstGeom prst="flowChartMulti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DataFile</a:t>
            </a:r>
            <a:r>
              <a:rPr lang="en-US" dirty="0">
                <a:solidFill>
                  <a:sysClr val="windowText" lastClr="000000"/>
                </a:solidFill>
              </a:rPr>
              <a:t>(s)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52B06-E5C3-AADE-489C-F7835A4D9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08" y="947488"/>
            <a:ext cx="1354494" cy="14503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DB6949-DECE-4067-57C7-C4A2D3DF3C89}"/>
              </a:ext>
            </a:extLst>
          </p:cNvPr>
          <p:cNvSpPr txBox="1"/>
          <p:nvPr/>
        </p:nvSpPr>
        <p:spPr>
          <a:xfrm>
            <a:off x="2091028" y="91937"/>
            <a:ext cx="27781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3" action="ppaction://hlinksldjump"/>
              </a:rPr>
              <a:t>CalibrationWindow</a:t>
            </a:r>
            <a:r>
              <a:rPr lang="en-US" dirty="0">
                <a:hlinkClick r:id="rId3" action="ppaction://hlinksldjump"/>
              </a:rPr>
              <a:t> (GUI)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876DAC-5A7E-4D99-6F7D-712FC9BE205A}"/>
              </a:ext>
            </a:extLst>
          </p:cNvPr>
          <p:cNvSpPr txBox="1"/>
          <p:nvPr/>
        </p:nvSpPr>
        <p:spPr>
          <a:xfrm>
            <a:off x="2633563" y="2505669"/>
            <a:ext cx="3179407" cy="1477328"/>
          </a:xfrm>
          <a:custGeom>
            <a:avLst/>
            <a:gdLst>
              <a:gd name="csX0" fmla="*/ 0 w 3179407"/>
              <a:gd name="csY0" fmla="*/ 0 h 1477328"/>
              <a:gd name="csX1" fmla="*/ 466313 w 3179407"/>
              <a:gd name="csY1" fmla="*/ 0 h 1477328"/>
              <a:gd name="csX2" fmla="*/ 996214 w 3179407"/>
              <a:gd name="csY2" fmla="*/ 0 h 1477328"/>
              <a:gd name="csX3" fmla="*/ 1430733 w 3179407"/>
              <a:gd name="csY3" fmla="*/ 0 h 1477328"/>
              <a:gd name="csX4" fmla="*/ 1865252 w 3179407"/>
              <a:gd name="csY4" fmla="*/ 0 h 1477328"/>
              <a:gd name="csX5" fmla="*/ 2299771 w 3179407"/>
              <a:gd name="csY5" fmla="*/ 0 h 1477328"/>
              <a:gd name="csX6" fmla="*/ 3179407 w 3179407"/>
              <a:gd name="csY6" fmla="*/ 0 h 1477328"/>
              <a:gd name="csX7" fmla="*/ 3179407 w 3179407"/>
              <a:gd name="csY7" fmla="*/ 521989 h 1477328"/>
              <a:gd name="csX8" fmla="*/ 3179407 w 3179407"/>
              <a:gd name="csY8" fmla="*/ 1043978 h 1477328"/>
              <a:gd name="csX9" fmla="*/ 3179407 w 3179407"/>
              <a:gd name="csY9" fmla="*/ 1477328 h 1477328"/>
              <a:gd name="csX10" fmla="*/ 2744888 w 3179407"/>
              <a:gd name="csY10" fmla="*/ 1477328 h 1477328"/>
              <a:gd name="csX11" fmla="*/ 2183193 w 3179407"/>
              <a:gd name="csY11" fmla="*/ 1477328 h 1477328"/>
              <a:gd name="csX12" fmla="*/ 1589704 w 3179407"/>
              <a:gd name="csY12" fmla="*/ 1477328 h 1477328"/>
              <a:gd name="csX13" fmla="*/ 1155185 w 3179407"/>
              <a:gd name="csY13" fmla="*/ 1477328 h 1477328"/>
              <a:gd name="csX14" fmla="*/ 561695 w 3179407"/>
              <a:gd name="csY14" fmla="*/ 1477328 h 1477328"/>
              <a:gd name="csX15" fmla="*/ 0 w 3179407"/>
              <a:gd name="csY15" fmla="*/ 1477328 h 1477328"/>
              <a:gd name="csX16" fmla="*/ 0 w 3179407"/>
              <a:gd name="csY16" fmla="*/ 999659 h 1477328"/>
              <a:gd name="csX17" fmla="*/ 0 w 3179407"/>
              <a:gd name="csY17" fmla="*/ 536763 h 1477328"/>
              <a:gd name="csX18" fmla="*/ 0 w 3179407"/>
              <a:gd name="csY18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179407" h="1477328" fill="none" extrusionOk="0">
                <a:moveTo>
                  <a:pt x="0" y="0"/>
                </a:moveTo>
                <a:cubicBezTo>
                  <a:pt x="192472" y="-55508"/>
                  <a:pt x="300002" y="12155"/>
                  <a:pt x="466313" y="0"/>
                </a:cubicBezTo>
                <a:cubicBezTo>
                  <a:pt x="632624" y="-12155"/>
                  <a:pt x="842465" y="48442"/>
                  <a:pt x="996214" y="0"/>
                </a:cubicBezTo>
                <a:cubicBezTo>
                  <a:pt x="1149963" y="-48442"/>
                  <a:pt x="1278877" y="25484"/>
                  <a:pt x="1430733" y="0"/>
                </a:cubicBezTo>
                <a:cubicBezTo>
                  <a:pt x="1582589" y="-25484"/>
                  <a:pt x="1745329" y="49213"/>
                  <a:pt x="1865252" y="0"/>
                </a:cubicBezTo>
                <a:cubicBezTo>
                  <a:pt x="1985175" y="-49213"/>
                  <a:pt x="2090210" y="50167"/>
                  <a:pt x="2299771" y="0"/>
                </a:cubicBezTo>
                <a:cubicBezTo>
                  <a:pt x="2509332" y="-50167"/>
                  <a:pt x="2969474" y="88673"/>
                  <a:pt x="3179407" y="0"/>
                </a:cubicBezTo>
                <a:cubicBezTo>
                  <a:pt x="3184677" y="233902"/>
                  <a:pt x="3117228" y="382430"/>
                  <a:pt x="3179407" y="521989"/>
                </a:cubicBezTo>
                <a:cubicBezTo>
                  <a:pt x="3241586" y="661548"/>
                  <a:pt x="3145507" y="891549"/>
                  <a:pt x="3179407" y="1043978"/>
                </a:cubicBezTo>
                <a:cubicBezTo>
                  <a:pt x="3213307" y="1196407"/>
                  <a:pt x="3174310" y="1302815"/>
                  <a:pt x="3179407" y="1477328"/>
                </a:cubicBezTo>
                <a:cubicBezTo>
                  <a:pt x="3023104" y="1502807"/>
                  <a:pt x="2943932" y="1427097"/>
                  <a:pt x="2744888" y="1477328"/>
                </a:cubicBezTo>
                <a:cubicBezTo>
                  <a:pt x="2545844" y="1527559"/>
                  <a:pt x="2330679" y="1453082"/>
                  <a:pt x="2183193" y="1477328"/>
                </a:cubicBezTo>
                <a:cubicBezTo>
                  <a:pt x="2035708" y="1501574"/>
                  <a:pt x="1729571" y="1437985"/>
                  <a:pt x="1589704" y="1477328"/>
                </a:cubicBezTo>
                <a:cubicBezTo>
                  <a:pt x="1449837" y="1516671"/>
                  <a:pt x="1348602" y="1455958"/>
                  <a:pt x="1155185" y="1477328"/>
                </a:cubicBezTo>
                <a:cubicBezTo>
                  <a:pt x="961768" y="1498698"/>
                  <a:pt x="829931" y="1432478"/>
                  <a:pt x="561695" y="1477328"/>
                </a:cubicBezTo>
                <a:cubicBezTo>
                  <a:pt x="293459" y="1522178"/>
                  <a:pt x="161619" y="1443899"/>
                  <a:pt x="0" y="1477328"/>
                </a:cubicBezTo>
                <a:cubicBezTo>
                  <a:pt x="-29045" y="1273306"/>
                  <a:pt x="44282" y="1098982"/>
                  <a:pt x="0" y="999659"/>
                </a:cubicBezTo>
                <a:cubicBezTo>
                  <a:pt x="-44282" y="900336"/>
                  <a:pt x="519" y="649932"/>
                  <a:pt x="0" y="536763"/>
                </a:cubicBezTo>
                <a:cubicBezTo>
                  <a:pt x="-519" y="423594"/>
                  <a:pt x="29860" y="179445"/>
                  <a:pt x="0" y="0"/>
                </a:cubicBezTo>
                <a:close/>
              </a:path>
              <a:path w="3179407" h="1477328" stroke="0" extrusionOk="0">
                <a:moveTo>
                  <a:pt x="0" y="0"/>
                </a:moveTo>
                <a:cubicBezTo>
                  <a:pt x="97933" y="-21137"/>
                  <a:pt x="300259" y="49108"/>
                  <a:pt x="466313" y="0"/>
                </a:cubicBezTo>
                <a:cubicBezTo>
                  <a:pt x="632367" y="-49108"/>
                  <a:pt x="736378" y="21530"/>
                  <a:pt x="996214" y="0"/>
                </a:cubicBezTo>
                <a:cubicBezTo>
                  <a:pt x="1256050" y="-21530"/>
                  <a:pt x="1271376" y="19690"/>
                  <a:pt x="1430733" y="0"/>
                </a:cubicBezTo>
                <a:cubicBezTo>
                  <a:pt x="1590090" y="-19690"/>
                  <a:pt x="1850236" y="46399"/>
                  <a:pt x="1992428" y="0"/>
                </a:cubicBezTo>
                <a:cubicBezTo>
                  <a:pt x="2134620" y="-46399"/>
                  <a:pt x="2274055" y="34561"/>
                  <a:pt x="2426947" y="0"/>
                </a:cubicBezTo>
                <a:cubicBezTo>
                  <a:pt x="2579839" y="-34561"/>
                  <a:pt x="2930575" y="4268"/>
                  <a:pt x="3179407" y="0"/>
                </a:cubicBezTo>
                <a:cubicBezTo>
                  <a:pt x="3201484" y="196451"/>
                  <a:pt x="3117714" y="416780"/>
                  <a:pt x="3179407" y="521989"/>
                </a:cubicBezTo>
                <a:cubicBezTo>
                  <a:pt x="3241100" y="627198"/>
                  <a:pt x="3158606" y="922317"/>
                  <a:pt x="3179407" y="1029205"/>
                </a:cubicBezTo>
                <a:cubicBezTo>
                  <a:pt x="3200208" y="1136093"/>
                  <a:pt x="3167168" y="1385010"/>
                  <a:pt x="3179407" y="1477328"/>
                </a:cubicBezTo>
                <a:cubicBezTo>
                  <a:pt x="3008809" y="1488376"/>
                  <a:pt x="2897121" y="1414050"/>
                  <a:pt x="2649506" y="1477328"/>
                </a:cubicBezTo>
                <a:cubicBezTo>
                  <a:pt x="2401891" y="1540606"/>
                  <a:pt x="2427544" y="1474985"/>
                  <a:pt x="2214987" y="1477328"/>
                </a:cubicBezTo>
                <a:cubicBezTo>
                  <a:pt x="2002430" y="1479671"/>
                  <a:pt x="1821195" y="1447849"/>
                  <a:pt x="1653292" y="1477328"/>
                </a:cubicBezTo>
                <a:cubicBezTo>
                  <a:pt x="1485390" y="1506807"/>
                  <a:pt x="1194177" y="1460663"/>
                  <a:pt x="1059802" y="1477328"/>
                </a:cubicBezTo>
                <a:cubicBezTo>
                  <a:pt x="925427" y="1493993"/>
                  <a:pt x="710625" y="1433237"/>
                  <a:pt x="561695" y="1477328"/>
                </a:cubicBezTo>
                <a:cubicBezTo>
                  <a:pt x="412765" y="1521419"/>
                  <a:pt x="193191" y="1410485"/>
                  <a:pt x="0" y="1477328"/>
                </a:cubicBezTo>
                <a:cubicBezTo>
                  <a:pt x="-23674" y="1354273"/>
                  <a:pt x="40029" y="1185719"/>
                  <a:pt x="0" y="984885"/>
                </a:cubicBezTo>
                <a:cubicBezTo>
                  <a:pt x="-40029" y="784051"/>
                  <a:pt x="28399" y="608596"/>
                  <a:pt x="0" y="462896"/>
                </a:cubicBezTo>
                <a:cubicBezTo>
                  <a:pt x="-28399" y="317196"/>
                  <a:pt x="29379" y="17313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276572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DataSet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 Common Parameters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Only these parameters will be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 Instrument Make(s) and Model(s)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Should only be 1 Make and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Load </a:t>
            </a:r>
            <a:r>
              <a:rPr lang="en-US" sz="1200" dirty="0" err="1"/>
              <a:t>DataFile</a:t>
            </a:r>
            <a:r>
              <a:rPr lang="en-US" sz="1200" dirty="0"/>
              <a:t>(s)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Can be a calibration dataset or not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7CFE0EE-3FCF-93CA-9A53-B274F214D82A}"/>
              </a:ext>
            </a:extLst>
          </p:cNvPr>
          <p:cNvCxnSpPr>
            <a:cxnSpLocks/>
            <a:stCxn id="9" idx="2"/>
            <a:endCxn id="11" idx="1"/>
          </p:cNvCxnSpPr>
          <p:nvPr/>
        </p:nvCxnSpPr>
        <p:spPr>
          <a:xfrm rot="16200000" flipH="1">
            <a:off x="1370570" y="1981339"/>
            <a:ext cx="846479" cy="1679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8B78B87-06FB-89BA-AB93-C39365F568C4}"/>
              </a:ext>
            </a:extLst>
          </p:cNvPr>
          <p:cNvSpPr/>
          <p:nvPr/>
        </p:nvSpPr>
        <p:spPr>
          <a:xfrm>
            <a:off x="226267" y="2702184"/>
            <a:ext cx="1455576" cy="3638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Load Files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D47BDB5-A733-6C56-426C-B499F009834F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5812970" y="2334671"/>
            <a:ext cx="790762" cy="9096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3C74FB3-4E82-4A5F-89CB-29D0A72FCAF2}"/>
              </a:ext>
            </a:extLst>
          </p:cNvPr>
          <p:cNvSpPr txBox="1"/>
          <p:nvPr/>
        </p:nvSpPr>
        <p:spPr>
          <a:xfrm>
            <a:off x="721567" y="5408261"/>
            <a:ext cx="240729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4" action="ppaction://hlinksldjump"/>
              </a:rPr>
              <a:t>ControlRelation</a:t>
            </a:r>
            <a:endParaRPr lang="en-US" dirty="0"/>
          </a:p>
          <a:p>
            <a:pPr algn="ctr"/>
            <a:r>
              <a:rPr lang="en-US" sz="1200" dirty="0"/>
              <a:t>Assigns controls</a:t>
            </a:r>
          </a:p>
          <a:p>
            <a:pPr algn="ctr"/>
            <a:r>
              <a:rPr lang="en-US" sz="1200" dirty="0"/>
              <a:t>Defines input/output parameters</a:t>
            </a:r>
          </a:p>
          <a:p>
            <a:pPr algn="ctr"/>
            <a:r>
              <a:rPr lang="en-US" sz="1200" dirty="0"/>
              <a:t>Identifies Populations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27F1716-F5CD-20BD-1FAE-147C0D954E5B}"/>
              </a:ext>
            </a:extLst>
          </p:cNvPr>
          <p:cNvCxnSpPr>
            <a:stCxn id="11" idx="2"/>
            <a:endCxn id="22" idx="0"/>
          </p:cNvCxnSpPr>
          <p:nvPr/>
        </p:nvCxnSpPr>
        <p:spPr>
          <a:xfrm rot="5400000">
            <a:off x="2361610" y="3546604"/>
            <a:ext cx="1425264" cy="2298051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79998F2-BB81-501A-E97A-0ED8359DFCFB}"/>
              </a:ext>
            </a:extLst>
          </p:cNvPr>
          <p:cNvSpPr/>
          <p:nvPr/>
        </p:nvSpPr>
        <p:spPr>
          <a:xfrm>
            <a:off x="254645" y="3721111"/>
            <a:ext cx="1903058" cy="3638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Calibration Datasets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9F028F9-CD9C-11D5-833C-EB5A9BFA8635}"/>
              </a:ext>
            </a:extLst>
          </p:cNvPr>
          <p:cNvGrpSpPr/>
          <p:nvPr/>
        </p:nvGrpSpPr>
        <p:grpSpPr>
          <a:xfrm>
            <a:off x="8896987" y="2044025"/>
            <a:ext cx="2934673" cy="4635462"/>
            <a:chOff x="8638202" y="2505670"/>
            <a:chExt cx="2934673" cy="417381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CF04AE-538C-8839-7A82-47559A5D0D08}"/>
                </a:ext>
              </a:extLst>
            </p:cNvPr>
            <p:cNvSpPr/>
            <p:nvPr/>
          </p:nvSpPr>
          <p:spPr>
            <a:xfrm>
              <a:off x="8638202" y="2505670"/>
              <a:ext cx="2934673" cy="417381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EB3A61-F19C-8198-8574-8FD359C738AE}"/>
                </a:ext>
              </a:extLst>
            </p:cNvPr>
            <p:cNvSpPr txBox="1"/>
            <p:nvPr/>
          </p:nvSpPr>
          <p:spPr>
            <a:xfrm>
              <a:off x="8896986" y="3035324"/>
              <a:ext cx="2573445" cy="1107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hlinkClick r:id="rId5" action="ppaction://hlinksldjump"/>
                </a:rPr>
                <a:t>Sample</a:t>
              </a:r>
              <a:endParaRPr lang="en-US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Sample identify logic using filename, keywords, </a:t>
              </a:r>
              <a:r>
                <a:rPr lang="en-US" sz="1200" dirty="0" err="1"/>
                <a:t>filepath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Sample Type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Sample group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4657FC-C38C-FA29-65EB-110B96AB3480}"/>
                </a:ext>
              </a:extLst>
            </p:cNvPr>
            <p:cNvSpPr txBox="1"/>
            <p:nvPr/>
          </p:nvSpPr>
          <p:spPr>
            <a:xfrm>
              <a:off x="8896987" y="4189937"/>
              <a:ext cx="2573445" cy="14773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hlinkClick r:id="rId6" action="ppaction://hlinksldjump"/>
                </a:rPr>
                <a:t>Fluorophore</a:t>
              </a:r>
              <a:endParaRPr lang="en-US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Fluorophore identify logic using filename, keywords, </a:t>
              </a:r>
              <a:r>
                <a:rPr lang="en-US" sz="1200" dirty="0" err="1"/>
                <a:t>filepath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Fluorophore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Control Type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 err="1"/>
                <a:t>ToDo</a:t>
              </a:r>
              <a:r>
                <a:rPr lang="en-US" sz="1200" dirty="0"/>
                <a:t>: Support Multiple Fluorophores per file.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65A5572-5940-3F60-FD4E-4DE359D36DA6}"/>
                </a:ext>
              </a:extLst>
            </p:cNvPr>
            <p:cNvSpPr txBox="1"/>
            <p:nvPr/>
          </p:nvSpPr>
          <p:spPr>
            <a:xfrm>
              <a:off x="8896987" y="5705142"/>
              <a:ext cx="2573445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Instrument (WIP)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Trigger Channel and Threshold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Gains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Helps with </a:t>
              </a:r>
              <a:r>
                <a:rPr lang="en-US" sz="1200" dirty="0" err="1"/>
                <a:t>vFRed</a:t>
              </a:r>
              <a:endParaRPr lang="en-US" sz="12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DD49F35-27C8-CAAE-342D-C8A3194BEA5D}"/>
                </a:ext>
              </a:extLst>
            </p:cNvPr>
            <p:cNvSpPr txBox="1"/>
            <p:nvPr/>
          </p:nvSpPr>
          <p:spPr>
            <a:xfrm>
              <a:off x="8791575" y="2619375"/>
              <a:ext cx="2678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Each </a:t>
              </a:r>
              <a:r>
                <a:rPr lang="en-US" dirty="0" err="1"/>
                <a:t>DataFile</a:t>
              </a:r>
              <a:r>
                <a:rPr lang="en-US" dirty="0"/>
                <a:t>:</a:t>
              </a:r>
            </a:p>
          </p:txBody>
        </p:sp>
      </p:grp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07A86264-C701-0C21-F55B-15B0F4B162C9}"/>
              </a:ext>
            </a:extLst>
          </p:cNvPr>
          <p:cNvCxnSpPr>
            <a:stCxn id="7" idx="2"/>
            <a:endCxn id="29" idx="1"/>
          </p:cNvCxnSpPr>
          <p:nvPr/>
        </p:nvCxnSpPr>
        <p:spPr>
          <a:xfrm rot="16200000" flipH="1">
            <a:off x="8240863" y="2332626"/>
            <a:ext cx="145336" cy="1684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0343DE5-E0CB-E212-470F-F25EF52EEC38}"/>
              </a:ext>
            </a:extLst>
          </p:cNvPr>
          <p:cNvCxnSpPr>
            <a:cxnSpLocks/>
            <a:stCxn id="7" idx="2"/>
            <a:endCxn id="30" idx="1"/>
          </p:cNvCxnSpPr>
          <p:nvPr/>
        </p:nvCxnSpPr>
        <p:spPr>
          <a:xfrm rot="16200000" flipH="1">
            <a:off x="7533921" y="3039569"/>
            <a:ext cx="1559223" cy="16844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A989295-D129-49DF-BF1A-59CD1762840D}"/>
              </a:ext>
            </a:extLst>
          </p:cNvPr>
          <p:cNvCxnSpPr>
            <a:cxnSpLocks/>
            <a:stCxn id="7" idx="2"/>
            <a:endCxn id="31" idx="1"/>
          </p:cNvCxnSpPr>
          <p:nvPr/>
        </p:nvCxnSpPr>
        <p:spPr>
          <a:xfrm rot="16200000" flipH="1">
            <a:off x="6809580" y="3763910"/>
            <a:ext cx="3007904" cy="16844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1D52529-F6E5-46F1-539D-325F1FCBBCE9}"/>
              </a:ext>
            </a:extLst>
          </p:cNvPr>
          <p:cNvSpPr txBox="1"/>
          <p:nvPr/>
        </p:nvSpPr>
        <p:spPr>
          <a:xfrm>
            <a:off x="103025" y="648407"/>
            <a:ext cx="16795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DataView</a:t>
            </a:r>
            <a:r>
              <a:rPr lang="en-US" dirty="0"/>
              <a:t> (GUI)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E509EB1-6BDD-26A6-9A86-5F5BD600A355}"/>
              </a:ext>
            </a:extLst>
          </p:cNvPr>
          <p:cNvCxnSpPr>
            <a:cxnSpLocks/>
            <a:stCxn id="10" idx="2"/>
            <a:endCxn id="45" idx="3"/>
          </p:cNvCxnSpPr>
          <p:nvPr/>
        </p:nvCxnSpPr>
        <p:spPr>
          <a:xfrm rot="5400000">
            <a:off x="2445424" y="-201621"/>
            <a:ext cx="371804" cy="16975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7843A46-E617-D8B6-FFC5-F91C9C25743B}"/>
              </a:ext>
            </a:extLst>
          </p:cNvPr>
          <p:cNvSpPr txBox="1"/>
          <p:nvPr/>
        </p:nvSpPr>
        <p:spPr>
          <a:xfrm>
            <a:off x="9045059" y="659030"/>
            <a:ext cx="240729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4" action="ppaction://hlinksldjump"/>
              </a:rPr>
              <a:t>ControlRelation</a:t>
            </a:r>
            <a:endParaRPr lang="en-US" dirty="0"/>
          </a:p>
          <a:p>
            <a:pPr algn="ctr"/>
            <a:r>
              <a:rPr lang="en-US" sz="1200" dirty="0"/>
              <a:t>Assigns controls</a:t>
            </a:r>
          </a:p>
          <a:p>
            <a:pPr algn="ctr"/>
            <a:r>
              <a:rPr lang="en-US" sz="1200" dirty="0"/>
              <a:t>Defines input/output parameters</a:t>
            </a:r>
          </a:p>
          <a:p>
            <a:pPr algn="ctr"/>
            <a:r>
              <a:rPr lang="en-US" sz="1200" dirty="0"/>
              <a:t>Identifies Populations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0D9476E-343F-386A-56E0-1F06E280AC18}"/>
              </a:ext>
            </a:extLst>
          </p:cNvPr>
          <p:cNvCxnSpPr>
            <a:cxnSpLocks/>
            <a:stCxn id="11" idx="0"/>
            <a:endCxn id="57" idx="1"/>
          </p:cNvCxnSpPr>
          <p:nvPr/>
        </p:nvCxnSpPr>
        <p:spPr>
          <a:xfrm rot="5400000" flipH="1" flipV="1">
            <a:off x="5941676" y="-597714"/>
            <a:ext cx="1384974" cy="48217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183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9556A-69B6-5FDE-F039-5D85A074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4A81DB-7D20-FB2D-9900-7499E8C9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651" y="178513"/>
            <a:ext cx="2461940" cy="71722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Sample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22D80D-9ACE-F51F-1721-52FFECAF7097}"/>
              </a:ext>
            </a:extLst>
          </p:cNvPr>
          <p:cNvSpPr txBox="1"/>
          <p:nvPr/>
        </p:nvSpPr>
        <p:spPr>
          <a:xfrm>
            <a:off x="812372" y="4460503"/>
            <a:ext cx="2573445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Fluorophore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Fluorophore identify logic using filename, keywords, </a:t>
            </a:r>
            <a:r>
              <a:rPr lang="en-US" sz="1200" dirty="0" err="1"/>
              <a:t>filepath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Fluorophore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Control Type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FEB158-B511-5488-62F5-17684417B4B3}"/>
              </a:ext>
            </a:extLst>
          </p:cNvPr>
          <p:cNvSpPr txBox="1"/>
          <p:nvPr/>
        </p:nvSpPr>
        <p:spPr>
          <a:xfrm>
            <a:off x="812372" y="5742986"/>
            <a:ext cx="257344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Instrument (WIP)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Trigger Channel and Threshold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Helps with </a:t>
            </a:r>
            <a:r>
              <a:rPr lang="en-US" sz="1200" dirty="0" err="1"/>
              <a:t>vFRed</a:t>
            </a:r>
            <a:endParaRPr lang="en-US" sz="1200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FC08C48-F01C-1EF5-3ABA-5C1CC9CC8047}"/>
              </a:ext>
            </a:extLst>
          </p:cNvPr>
          <p:cNvCxnSpPr>
            <a:cxnSpLocks/>
            <a:stCxn id="12" idx="1"/>
            <a:endCxn id="5" idx="1"/>
          </p:cNvCxnSpPr>
          <p:nvPr/>
        </p:nvCxnSpPr>
        <p:spPr>
          <a:xfrm rot="10800000" flipH="1" flipV="1">
            <a:off x="510450" y="1533277"/>
            <a:ext cx="940278" cy="1407962"/>
          </a:xfrm>
          <a:prstGeom prst="bentConnector3">
            <a:avLst>
              <a:gd name="adj1" fmla="val -243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F2C3BEA-ABB0-782A-5AAF-FF28119A3075}"/>
              </a:ext>
            </a:extLst>
          </p:cNvPr>
          <p:cNvCxnSpPr>
            <a:cxnSpLocks/>
            <a:stCxn id="12" idx="1"/>
            <a:endCxn id="30" idx="1"/>
          </p:cNvCxnSpPr>
          <p:nvPr/>
        </p:nvCxnSpPr>
        <p:spPr>
          <a:xfrm rot="10800000" flipH="1" flipV="1">
            <a:off x="510450" y="1533277"/>
            <a:ext cx="301922" cy="3481224"/>
          </a:xfrm>
          <a:prstGeom prst="bentConnector3">
            <a:avLst>
              <a:gd name="adj1" fmla="val -757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C3B5532-8ABD-AE2D-7384-352865B2D497}"/>
              </a:ext>
            </a:extLst>
          </p:cNvPr>
          <p:cNvCxnSpPr>
            <a:cxnSpLocks/>
            <a:stCxn id="12" idx="1"/>
            <a:endCxn id="31" idx="1"/>
          </p:cNvCxnSpPr>
          <p:nvPr/>
        </p:nvCxnSpPr>
        <p:spPr>
          <a:xfrm rot="10800000" flipH="1" flipV="1">
            <a:off x="510450" y="1533277"/>
            <a:ext cx="301922" cy="4671374"/>
          </a:xfrm>
          <a:prstGeom prst="bentConnector3">
            <a:avLst>
              <a:gd name="adj1" fmla="val -757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35B89F0-7DCC-EE60-868C-135BC1071DDA}"/>
              </a:ext>
            </a:extLst>
          </p:cNvPr>
          <p:cNvSpPr txBox="1"/>
          <p:nvPr/>
        </p:nvSpPr>
        <p:spPr>
          <a:xfrm>
            <a:off x="5108508" y="4819656"/>
            <a:ext cx="240729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2" action="ppaction://hlinksldjump"/>
              </a:rPr>
              <a:t>ControlRelation</a:t>
            </a:r>
            <a:endParaRPr lang="en-US" dirty="0"/>
          </a:p>
          <a:p>
            <a:pPr algn="ctr"/>
            <a:r>
              <a:rPr lang="en-US" sz="1200" dirty="0"/>
              <a:t>Assigns controls</a:t>
            </a:r>
          </a:p>
          <a:p>
            <a:pPr algn="ctr"/>
            <a:r>
              <a:rPr lang="en-US" sz="1200" dirty="0"/>
              <a:t>Defines input/output parameters</a:t>
            </a:r>
          </a:p>
          <a:p>
            <a:pPr algn="ctr"/>
            <a:r>
              <a:rPr lang="en-US" sz="1200" dirty="0"/>
              <a:t>Identifies Populations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D1D2AC5C-0481-0701-65BC-9E31A1E56BBA}"/>
              </a:ext>
            </a:extLst>
          </p:cNvPr>
          <p:cNvCxnSpPr>
            <a:cxnSpLocks/>
            <a:stCxn id="5" idx="2"/>
            <a:endCxn id="57" idx="0"/>
          </p:cNvCxnSpPr>
          <p:nvPr/>
        </p:nvCxnSpPr>
        <p:spPr>
          <a:xfrm rot="16200000" flipH="1">
            <a:off x="3862595" y="2370093"/>
            <a:ext cx="1324419" cy="3574706"/>
          </a:xfrm>
          <a:prstGeom prst="bentConnector3">
            <a:avLst>
              <a:gd name="adj1" fmla="val 539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CFF3547-CA22-0797-456A-EC3E031778B4}"/>
              </a:ext>
            </a:extLst>
          </p:cNvPr>
          <p:cNvSpPr txBox="1"/>
          <p:nvPr/>
        </p:nvSpPr>
        <p:spPr>
          <a:xfrm>
            <a:off x="1450728" y="2387241"/>
            <a:ext cx="2573445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Sample identify logic using filename, keywords, </a:t>
            </a:r>
            <a:r>
              <a:rPr lang="en-US" sz="1200" dirty="0" err="1"/>
              <a:t>filepath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Sample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Sample group</a:t>
            </a:r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2D3D2021-9491-7AFA-CA3B-CC78960BBCEE}"/>
              </a:ext>
            </a:extLst>
          </p:cNvPr>
          <p:cNvSpPr/>
          <p:nvPr/>
        </p:nvSpPr>
        <p:spPr>
          <a:xfrm>
            <a:off x="510450" y="895739"/>
            <a:ext cx="1561381" cy="1275075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DataFile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E3A5832-F9F5-3650-308E-0AF2C29DC69C}"/>
              </a:ext>
            </a:extLst>
          </p:cNvPr>
          <p:cNvCxnSpPr>
            <a:cxnSpLocks/>
            <a:stCxn id="30" idx="3"/>
            <a:endCxn id="57" idx="2"/>
          </p:cNvCxnSpPr>
          <p:nvPr/>
        </p:nvCxnSpPr>
        <p:spPr>
          <a:xfrm>
            <a:off x="3385817" y="5014501"/>
            <a:ext cx="2926340" cy="728485"/>
          </a:xfrm>
          <a:prstGeom prst="bentConnector4">
            <a:avLst>
              <a:gd name="adj1" fmla="val 29434"/>
              <a:gd name="adj2" fmla="val 1313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1D4C6BC2-CC27-73EA-FA09-38B380F775CF}"/>
              </a:ext>
            </a:extLst>
          </p:cNvPr>
          <p:cNvCxnSpPr>
            <a:cxnSpLocks/>
            <a:stCxn id="31" idx="3"/>
            <a:endCxn id="57" idx="2"/>
          </p:cNvCxnSpPr>
          <p:nvPr/>
        </p:nvCxnSpPr>
        <p:spPr>
          <a:xfrm flipV="1">
            <a:off x="3385817" y="5742986"/>
            <a:ext cx="2926340" cy="4616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E9A66F-E43F-8585-FF43-D46F89729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347" b="9720"/>
          <a:stretch>
            <a:fillRect/>
          </a:stretch>
        </p:blipFill>
        <p:spPr>
          <a:xfrm>
            <a:off x="5783751" y="1320151"/>
            <a:ext cx="5595875" cy="2696429"/>
          </a:xfrm>
          <a:prstGeom prst="rect">
            <a:avLst/>
          </a:prstGeom>
        </p:spPr>
      </p:pic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90097F6-77AF-6A30-91A6-A9C8F026111D}"/>
              </a:ext>
            </a:extLst>
          </p:cNvPr>
          <p:cNvCxnSpPr>
            <a:cxnSpLocks/>
            <a:stCxn id="5" idx="3"/>
            <a:endCxn id="75" idx="1"/>
          </p:cNvCxnSpPr>
          <p:nvPr/>
        </p:nvCxnSpPr>
        <p:spPr>
          <a:xfrm flipV="1">
            <a:off x="4024173" y="2668366"/>
            <a:ext cx="1759578" cy="2728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0640928-14A1-B354-4CB6-29EC87580B0D}"/>
              </a:ext>
            </a:extLst>
          </p:cNvPr>
          <p:cNvSpPr txBox="1"/>
          <p:nvPr/>
        </p:nvSpPr>
        <p:spPr>
          <a:xfrm>
            <a:off x="5783751" y="960151"/>
            <a:ext cx="559587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Sample Regex .csv: With Order of Operations</a:t>
            </a:r>
          </a:p>
        </p:txBody>
      </p:sp>
      <p:sp>
        <p:nvSpPr>
          <p:cNvPr id="121" name="Flowchart: Multidocument 120">
            <a:extLst>
              <a:ext uri="{FF2B5EF4-FFF2-40B4-BE49-F238E27FC236}">
                <a16:creationId xmlns:a16="http://schemas.microsoft.com/office/drawing/2014/main" id="{1A0CB2C1-EBE7-6A19-B330-250098D8C20E}"/>
              </a:ext>
            </a:extLst>
          </p:cNvPr>
          <p:cNvSpPr/>
          <p:nvPr/>
        </p:nvSpPr>
        <p:spPr>
          <a:xfrm>
            <a:off x="2737450" y="213155"/>
            <a:ext cx="1864014" cy="1425243"/>
          </a:xfrm>
          <a:prstGeom prst="flowChartMulti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  <a:hlinkClick r:id="rId4" action="ppaction://hlinksldjump"/>
              </a:rPr>
              <a:t>DataSet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9D567AE0-F790-CA0E-D487-FA99B8BD084B}"/>
              </a:ext>
            </a:extLst>
          </p:cNvPr>
          <p:cNvCxnSpPr>
            <a:cxnSpLocks/>
            <a:stCxn id="121" idx="1"/>
            <a:endCxn id="12" idx="3"/>
          </p:cNvCxnSpPr>
          <p:nvPr/>
        </p:nvCxnSpPr>
        <p:spPr>
          <a:xfrm rot="10800000" flipV="1">
            <a:off x="2071832" y="925777"/>
            <a:ext cx="665619" cy="6075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31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441D-413D-4219-A5B3-ED166396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B6A748-D508-74CE-AB2D-E0CFF8EC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230" y="178513"/>
            <a:ext cx="2795361" cy="71722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Fluorophore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9D47F-2E88-8031-4DC0-B914F6EEDBFF}"/>
              </a:ext>
            </a:extLst>
          </p:cNvPr>
          <p:cNvSpPr txBox="1"/>
          <p:nvPr/>
        </p:nvSpPr>
        <p:spPr>
          <a:xfrm>
            <a:off x="2914625" y="2495366"/>
            <a:ext cx="2573445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Fluorophore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Fluorophore identify logic using filename, keywords, </a:t>
            </a:r>
            <a:r>
              <a:rPr lang="en-US" sz="1200" dirty="0" err="1"/>
              <a:t>filepath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Fluorophore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Control 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76616-725F-6B0C-DF06-4E306F29ACC5}"/>
              </a:ext>
            </a:extLst>
          </p:cNvPr>
          <p:cNvSpPr txBox="1"/>
          <p:nvPr/>
        </p:nvSpPr>
        <p:spPr>
          <a:xfrm>
            <a:off x="563148" y="5761452"/>
            <a:ext cx="257344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Instrument (WIP)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Trigger Channel and Threshold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Helps with </a:t>
            </a:r>
            <a:r>
              <a:rPr lang="en-US" sz="1200" dirty="0" err="1"/>
              <a:t>vFRed</a:t>
            </a:r>
            <a:endParaRPr lang="en-US" sz="1200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F119790-ACB5-00D1-F46F-E7B8703B78A3}"/>
              </a:ext>
            </a:extLst>
          </p:cNvPr>
          <p:cNvCxnSpPr>
            <a:cxnSpLocks/>
            <a:stCxn id="21" idx="1"/>
            <a:endCxn id="19" idx="1"/>
          </p:cNvCxnSpPr>
          <p:nvPr/>
        </p:nvCxnSpPr>
        <p:spPr>
          <a:xfrm rot="10800000" flipH="1" flipV="1">
            <a:off x="446084" y="1902609"/>
            <a:ext cx="117062" cy="2811514"/>
          </a:xfrm>
          <a:prstGeom prst="bentConnector3">
            <a:avLst>
              <a:gd name="adj1" fmla="val -19528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FD387A3B-8418-F214-BBF1-C5AB3D7544C6}"/>
              </a:ext>
            </a:extLst>
          </p:cNvPr>
          <p:cNvCxnSpPr>
            <a:cxnSpLocks/>
            <a:stCxn id="21" idx="1"/>
            <a:endCxn id="5" idx="1"/>
          </p:cNvCxnSpPr>
          <p:nvPr/>
        </p:nvCxnSpPr>
        <p:spPr>
          <a:xfrm rot="10800000" flipH="1" flipV="1">
            <a:off x="446083" y="1902608"/>
            <a:ext cx="2468541" cy="1146755"/>
          </a:xfrm>
          <a:prstGeom prst="bentConnector3">
            <a:avLst>
              <a:gd name="adj1" fmla="val -92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80EF4FD-6CCF-EDAF-FB01-0F0B0C96410F}"/>
              </a:ext>
            </a:extLst>
          </p:cNvPr>
          <p:cNvCxnSpPr>
            <a:cxnSpLocks/>
            <a:stCxn id="21" idx="1"/>
            <a:endCxn id="8" idx="1"/>
          </p:cNvCxnSpPr>
          <p:nvPr/>
        </p:nvCxnSpPr>
        <p:spPr>
          <a:xfrm rot="10800000" flipH="1" flipV="1">
            <a:off x="446084" y="1902609"/>
            <a:ext cx="117064" cy="4320508"/>
          </a:xfrm>
          <a:prstGeom prst="bentConnector3">
            <a:avLst>
              <a:gd name="adj1" fmla="val -1952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13B8504-C1DE-1D74-02DF-32CDF1762979}"/>
              </a:ext>
            </a:extLst>
          </p:cNvPr>
          <p:cNvSpPr txBox="1"/>
          <p:nvPr/>
        </p:nvSpPr>
        <p:spPr>
          <a:xfrm>
            <a:off x="3821785" y="5685679"/>
            <a:ext cx="240729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2" action="ppaction://hlinksldjump"/>
              </a:rPr>
              <a:t>ControlRelation</a:t>
            </a:r>
            <a:endParaRPr lang="en-US" dirty="0"/>
          </a:p>
          <a:p>
            <a:pPr algn="ctr"/>
            <a:r>
              <a:rPr lang="en-US" sz="1200" dirty="0"/>
              <a:t>Assigns controls</a:t>
            </a:r>
          </a:p>
          <a:p>
            <a:pPr algn="ctr"/>
            <a:r>
              <a:rPr lang="en-US" sz="1200" dirty="0"/>
              <a:t>Defines input/output parameters</a:t>
            </a:r>
          </a:p>
          <a:p>
            <a:pPr algn="ctr"/>
            <a:r>
              <a:rPr lang="en-US" sz="1200" dirty="0"/>
              <a:t>Identifies Populations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0537EAD-3221-936D-18E4-661C5597D82E}"/>
              </a:ext>
            </a:extLst>
          </p:cNvPr>
          <p:cNvCxnSpPr>
            <a:cxnSpLocks/>
            <a:stCxn id="5" idx="3"/>
            <a:endCxn id="73" idx="1"/>
          </p:cNvCxnSpPr>
          <p:nvPr/>
        </p:nvCxnSpPr>
        <p:spPr>
          <a:xfrm>
            <a:off x="5488070" y="3049364"/>
            <a:ext cx="907160" cy="3468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3D2135D-1EA2-4C44-A3BF-8855DA325CBD}"/>
              </a:ext>
            </a:extLst>
          </p:cNvPr>
          <p:cNvSpPr txBox="1"/>
          <p:nvPr/>
        </p:nvSpPr>
        <p:spPr>
          <a:xfrm>
            <a:off x="563146" y="4160125"/>
            <a:ext cx="2573445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Sample identify logic using filename, keywords, </a:t>
            </a:r>
            <a:r>
              <a:rPr lang="en-US" sz="1200" dirty="0" err="1"/>
              <a:t>filepath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Sample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Sample group</a:t>
            </a:r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6D521962-CE18-9E27-57E1-CE4F54AC5A08}"/>
              </a:ext>
            </a:extLst>
          </p:cNvPr>
          <p:cNvSpPr/>
          <p:nvPr/>
        </p:nvSpPr>
        <p:spPr>
          <a:xfrm>
            <a:off x="446084" y="1265071"/>
            <a:ext cx="1561381" cy="1275075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DataFile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30A1353-64C4-ADFE-E78D-4614CA7E9877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 rot="16200000" flipH="1">
            <a:off x="3572233" y="4232477"/>
            <a:ext cx="2082317" cy="824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61605B9-CF4E-35CA-2079-D7EC3DBD8EDE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3136593" y="6147344"/>
            <a:ext cx="685192" cy="757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9A3B401-AFC8-E80C-A627-3E0910E0DFAB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>
            <a:off x="3136591" y="4714123"/>
            <a:ext cx="685194" cy="14332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7795247-B7E9-9056-F974-32DBA3FDBC93}"/>
              </a:ext>
            </a:extLst>
          </p:cNvPr>
          <p:cNvSpPr txBox="1"/>
          <p:nvPr/>
        </p:nvSpPr>
        <p:spPr>
          <a:xfrm>
            <a:off x="6395230" y="895739"/>
            <a:ext cx="55698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Fluorophore Regex .csv: With Order of Operations</a:t>
            </a:r>
          </a:p>
        </p:txBody>
      </p:sp>
      <p:pic>
        <p:nvPicPr>
          <p:cNvPr id="73" name="Picture 7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3BC935-548F-96EB-9E15-BDC65E972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230" y="1270601"/>
            <a:ext cx="5569883" cy="4251176"/>
          </a:xfrm>
          <a:prstGeom prst="rect">
            <a:avLst/>
          </a:prstGeom>
        </p:spPr>
      </p:pic>
      <p:sp>
        <p:nvSpPr>
          <p:cNvPr id="89" name="Flowchart: Multidocument 88">
            <a:extLst>
              <a:ext uri="{FF2B5EF4-FFF2-40B4-BE49-F238E27FC236}">
                <a16:creationId xmlns:a16="http://schemas.microsoft.com/office/drawing/2014/main" id="{B1478F9E-D0BD-5045-7C52-7CBE80F9D48D}"/>
              </a:ext>
            </a:extLst>
          </p:cNvPr>
          <p:cNvSpPr/>
          <p:nvPr/>
        </p:nvSpPr>
        <p:spPr>
          <a:xfrm>
            <a:off x="2380748" y="198983"/>
            <a:ext cx="1864014" cy="1425243"/>
          </a:xfrm>
          <a:prstGeom prst="flowChartMulti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  <a:hlinkClick r:id="rId4" action="ppaction://hlinksldjump"/>
              </a:rPr>
              <a:t>DataSet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1B1F9F9B-F9EC-A321-9382-D1DA28568BBD}"/>
              </a:ext>
            </a:extLst>
          </p:cNvPr>
          <p:cNvCxnSpPr>
            <a:cxnSpLocks/>
            <a:stCxn id="89" idx="1"/>
            <a:endCxn id="21" idx="3"/>
          </p:cNvCxnSpPr>
          <p:nvPr/>
        </p:nvCxnSpPr>
        <p:spPr>
          <a:xfrm rot="10800000" flipV="1">
            <a:off x="2007466" y="911605"/>
            <a:ext cx="373283" cy="991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18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1D13CD4-075D-E424-79A0-70E5EE7B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722" y="157928"/>
            <a:ext cx="4466508" cy="717226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ControlRelations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A2A0D6-2748-E05C-5DA4-31530872F0B0}"/>
              </a:ext>
            </a:extLst>
          </p:cNvPr>
          <p:cNvGrpSpPr/>
          <p:nvPr/>
        </p:nvGrpSpPr>
        <p:grpSpPr>
          <a:xfrm>
            <a:off x="1595126" y="1758682"/>
            <a:ext cx="5602557" cy="2137063"/>
            <a:chOff x="3764726" y="1989487"/>
            <a:chExt cx="5602557" cy="213706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66E2BBF-3952-EA68-07E8-A7C5B5BE9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4837"/>
            <a:stretch>
              <a:fillRect/>
            </a:stretch>
          </p:blipFill>
          <p:spPr>
            <a:xfrm>
              <a:off x="3764726" y="1989487"/>
              <a:ext cx="5602557" cy="158549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A6F1A10-5FB5-749A-5AB9-8605BBEB4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7152"/>
            <a:stretch>
              <a:fillRect/>
            </a:stretch>
          </p:blipFill>
          <p:spPr>
            <a:xfrm>
              <a:off x="3764726" y="3570626"/>
              <a:ext cx="5602557" cy="55592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98BC1E6-2440-905E-08C2-277D205AC866}"/>
              </a:ext>
            </a:extLst>
          </p:cNvPr>
          <p:cNvSpPr txBox="1"/>
          <p:nvPr/>
        </p:nvSpPr>
        <p:spPr>
          <a:xfrm>
            <a:off x="3438738" y="956832"/>
            <a:ext cx="307360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ControlRelations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Assigns controls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Defines input/output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and operates on Populations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F37CFAC-5D30-5B9B-8AEB-D1FDBEF6899C}"/>
              </a:ext>
            </a:extLst>
          </p:cNvPr>
          <p:cNvCxnSpPr>
            <a:cxnSpLocks/>
            <a:stCxn id="14" idx="2"/>
            <a:endCxn id="6" idx="0"/>
          </p:cNvCxnSpPr>
          <p:nvPr/>
        </p:nvCxnSpPr>
        <p:spPr>
          <a:xfrm rot="16200000" flipH="1">
            <a:off x="4680521" y="3611628"/>
            <a:ext cx="563338" cy="11315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497E86-CBE5-1B27-1C40-76ED71244E6B}"/>
              </a:ext>
            </a:extLst>
          </p:cNvPr>
          <p:cNvGrpSpPr/>
          <p:nvPr/>
        </p:nvGrpSpPr>
        <p:grpSpPr>
          <a:xfrm>
            <a:off x="290708" y="90169"/>
            <a:ext cx="2257439" cy="1303376"/>
            <a:chOff x="383805" y="373864"/>
            <a:chExt cx="2908651" cy="155927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DFCA068-5420-646B-9E5F-15F893C54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805" y="373864"/>
              <a:ext cx="2908651" cy="155927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27C298-E3C9-9586-4973-6F5EBEDBFBA2}"/>
                </a:ext>
              </a:extLst>
            </p:cNvPr>
            <p:cNvSpPr txBox="1"/>
            <p:nvPr/>
          </p:nvSpPr>
          <p:spPr>
            <a:xfrm>
              <a:off x="384596" y="1189762"/>
              <a:ext cx="2907067" cy="4418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hlinkClick r:id="rId4" action="ppaction://hlinksldjump"/>
                </a:rPr>
                <a:t>CalibrationWindow</a:t>
              </a:r>
              <a:endParaRPr lang="en-US" dirty="0"/>
            </a:p>
          </p:txBody>
        </p:sp>
      </p:grp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E6915BB-2381-BB5C-2D3F-52D81DC273E5}"/>
              </a:ext>
            </a:extLst>
          </p:cNvPr>
          <p:cNvCxnSpPr>
            <a:cxnSpLocks/>
            <a:stCxn id="22" idx="3"/>
            <a:endCxn id="13" idx="1"/>
          </p:cNvCxnSpPr>
          <p:nvPr/>
        </p:nvCxnSpPr>
        <p:spPr>
          <a:xfrm flipH="1">
            <a:off x="1595126" y="741857"/>
            <a:ext cx="953021" cy="1809575"/>
          </a:xfrm>
          <a:prstGeom prst="bentConnector5">
            <a:avLst>
              <a:gd name="adj1" fmla="val -23987"/>
              <a:gd name="adj2" fmla="val 46102"/>
              <a:gd name="adj3" fmla="val 1239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140A1CC3-2836-8EE0-50F3-790A2D379D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26"/>
          <a:stretch>
            <a:fillRect/>
          </a:stretch>
        </p:blipFill>
        <p:spPr>
          <a:xfrm>
            <a:off x="8088078" y="516392"/>
            <a:ext cx="3400119" cy="106694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88AA437-DB6C-0BDC-7746-7F9C8B2EF005}"/>
              </a:ext>
            </a:extLst>
          </p:cNvPr>
          <p:cNvSpPr/>
          <p:nvPr/>
        </p:nvSpPr>
        <p:spPr>
          <a:xfrm>
            <a:off x="8292414" y="672303"/>
            <a:ext cx="630080" cy="871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BF02EA-FE24-AADB-4F73-3BB128402BC0}"/>
              </a:ext>
            </a:extLst>
          </p:cNvPr>
          <p:cNvSpPr txBox="1"/>
          <p:nvPr/>
        </p:nvSpPr>
        <p:spPr>
          <a:xfrm>
            <a:off x="7217024" y="1653562"/>
            <a:ext cx="155944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Raw Parameters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7C8B54-38D7-9D01-808B-428BAC0BF3E8}"/>
              </a:ext>
            </a:extLst>
          </p:cNvPr>
          <p:cNvSpPr txBox="1"/>
          <p:nvPr/>
        </p:nvSpPr>
        <p:spPr>
          <a:xfrm>
            <a:off x="8149578" y="2007695"/>
            <a:ext cx="1871330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Unmixed Parameters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A2AEEE-D837-642A-118B-A89970D13EF6}"/>
              </a:ext>
            </a:extLst>
          </p:cNvPr>
          <p:cNvSpPr/>
          <p:nvPr/>
        </p:nvSpPr>
        <p:spPr>
          <a:xfrm>
            <a:off x="9223464" y="680935"/>
            <a:ext cx="871871" cy="87187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029653B2-075C-DF27-ADA1-E7CC0147B078}"/>
              </a:ext>
            </a:extLst>
          </p:cNvPr>
          <p:cNvCxnSpPr>
            <a:cxnSpLocks/>
            <a:stCxn id="30" idx="0"/>
            <a:endCxn id="34" idx="2"/>
          </p:cNvCxnSpPr>
          <p:nvPr/>
        </p:nvCxnSpPr>
        <p:spPr>
          <a:xfrm rot="5400000" flipH="1" flipV="1">
            <a:off x="9144876" y="1493172"/>
            <a:ext cx="454890" cy="574157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E8300E8-38EF-4EAC-084A-0BB9DE57C830}"/>
              </a:ext>
            </a:extLst>
          </p:cNvPr>
          <p:cNvSpPr txBox="1"/>
          <p:nvPr/>
        </p:nvSpPr>
        <p:spPr>
          <a:xfrm>
            <a:off x="10200431" y="2021270"/>
            <a:ext cx="1979428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Calibrated Parameters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E7D873-5AC2-B25A-ECA4-F3917B0D11BF}"/>
              </a:ext>
            </a:extLst>
          </p:cNvPr>
          <p:cNvSpPr/>
          <p:nvPr/>
        </p:nvSpPr>
        <p:spPr>
          <a:xfrm>
            <a:off x="10340405" y="680935"/>
            <a:ext cx="1126526" cy="8718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6BE0C78-8883-4C62-4D48-2B71F97A37BC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>
          <a:xfrm rot="16200000" flipV="1">
            <a:off x="10812675" y="1643799"/>
            <a:ext cx="468465" cy="286477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C8FC732-619F-2CDA-8EB3-3D379B0D2BCD}"/>
              </a:ext>
            </a:extLst>
          </p:cNvPr>
          <p:cNvSpPr txBox="1"/>
          <p:nvPr/>
        </p:nvSpPr>
        <p:spPr>
          <a:xfrm>
            <a:off x="7826432" y="157928"/>
            <a:ext cx="4133770" cy="369332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ControlRelations</a:t>
            </a:r>
            <a:r>
              <a:rPr lang="en-US" dirty="0"/>
              <a:t>: Parameter Relations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3A0C10D-554B-5A79-CC6F-69919FF6FE3F}"/>
              </a:ext>
            </a:extLst>
          </p:cNvPr>
          <p:cNvGrpSpPr/>
          <p:nvPr/>
        </p:nvGrpSpPr>
        <p:grpSpPr>
          <a:xfrm>
            <a:off x="74428" y="4361006"/>
            <a:ext cx="9010815" cy="2434856"/>
            <a:chOff x="74428" y="4363603"/>
            <a:chExt cx="9010815" cy="243485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752BFCD-DA24-3198-2A2C-4DB950D2F0C6}"/>
                </a:ext>
              </a:extLst>
            </p:cNvPr>
            <p:cNvSpPr/>
            <p:nvPr/>
          </p:nvSpPr>
          <p:spPr>
            <a:xfrm>
              <a:off x="74428" y="4363603"/>
              <a:ext cx="9010815" cy="24348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122106A-3653-DD11-6421-3C83E6B0B423}"/>
                </a:ext>
              </a:extLst>
            </p:cNvPr>
            <p:cNvGrpSpPr/>
            <p:nvPr/>
          </p:nvGrpSpPr>
          <p:grpSpPr>
            <a:xfrm>
              <a:off x="173750" y="4461680"/>
              <a:ext cx="4976037" cy="1602213"/>
              <a:chOff x="0" y="3314997"/>
              <a:chExt cx="6360426" cy="204796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CBA13B3-ECC9-DD9E-B78F-2C4F330B46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56666"/>
              <a:stretch>
                <a:fillRect/>
              </a:stretch>
            </p:blipFill>
            <p:spPr>
              <a:xfrm>
                <a:off x="0" y="3314997"/>
                <a:ext cx="6360426" cy="148028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F0F7DFA-C8B0-802E-2E63-3D79B896CE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83382"/>
              <a:stretch>
                <a:fillRect/>
              </a:stretch>
            </p:blipFill>
            <p:spPr>
              <a:xfrm>
                <a:off x="0" y="4795284"/>
                <a:ext cx="6360426" cy="567680"/>
              </a:xfrm>
              <a:prstGeom prst="rect">
                <a:avLst/>
              </a:prstGeom>
            </p:spPr>
          </p:pic>
        </p:grp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36FEE27-AACF-5635-FAFA-BFA23C3D5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0329" r="2155"/>
            <a:stretch>
              <a:fillRect/>
            </a:stretch>
          </p:blipFill>
          <p:spPr>
            <a:xfrm>
              <a:off x="173750" y="5899093"/>
              <a:ext cx="8762638" cy="836222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1E09D00-7BD7-3AFF-E45D-BEFF9B8F1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04081" y="4539380"/>
              <a:ext cx="1997381" cy="128812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B62F31-ED01-622A-B513-589E563F3C5D}"/>
                </a:ext>
              </a:extLst>
            </p:cNvPr>
            <p:cNvSpPr txBox="1"/>
            <p:nvPr/>
          </p:nvSpPr>
          <p:spPr>
            <a:xfrm>
              <a:off x="4003578" y="4461680"/>
              <a:ext cx="3048795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Population(s)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Population = </a:t>
              </a:r>
              <a:r>
                <a:rPr lang="en-US" sz="1200" dirty="0" err="1"/>
                <a:t>DataFile</a:t>
              </a:r>
              <a:r>
                <a:rPr lang="en-US" sz="1200" dirty="0"/>
                <a:t> + Sample Gate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Used for calibrations</a:t>
              </a:r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C621606E-5799-DE38-BF86-6396C8EDFC42}"/>
              </a:ext>
            </a:extLst>
          </p:cNvPr>
          <p:cNvSpPr/>
          <p:nvPr/>
        </p:nvSpPr>
        <p:spPr>
          <a:xfrm>
            <a:off x="2785731" y="2257058"/>
            <a:ext cx="2742246" cy="1158594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7696DA-7445-6DFE-A6DD-C15D84F7165A}"/>
              </a:ext>
            </a:extLst>
          </p:cNvPr>
          <p:cNvSpPr txBox="1"/>
          <p:nvPr/>
        </p:nvSpPr>
        <p:spPr>
          <a:xfrm>
            <a:off x="2402799" y="3461301"/>
            <a:ext cx="398721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Assigned Controls for Unmixing/Compensation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5D02A5F-8DEE-F301-A2A9-46FDA8C01CF7}"/>
              </a:ext>
            </a:extLst>
          </p:cNvPr>
          <p:cNvCxnSpPr>
            <a:cxnSpLocks/>
            <a:stCxn id="13" idx="3"/>
            <a:endCxn id="84" idx="1"/>
          </p:cNvCxnSpPr>
          <p:nvPr/>
        </p:nvCxnSpPr>
        <p:spPr>
          <a:xfrm>
            <a:off x="7197683" y="2551432"/>
            <a:ext cx="2461716" cy="4682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16B90D2-A57C-B59F-B3A0-27B445EEB382}"/>
              </a:ext>
            </a:extLst>
          </p:cNvPr>
          <p:cNvSpPr txBox="1"/>
          <p:nvPr/>
        </p:nvSpPr>
        <p:spPr>
          <a:xfrm>
            <a:off x="9659399" y="2650399"/>
            <a:ext cx="240729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9" action="ppaction://hlinksldjump"/>
              </a:rPr>
              <a:t>SpectralCalibration</a:t>
            </a:r>
            <a:endParaRPr lang="en-US" dirty="0"/>
          </a:p>
          <a:p>
            <a:pPr algn="ctr"/>
            <a:r>
              <a:rPr lang="en-US" sz="1200" dirty="0"/>
              <a:t>Unmixing/Compensation</a:t>
            </a:r>
          </a:p>
          <a:p>
            <a:pPr algn="ctr"/>
            <a:r>
              <a:rPr lang="en-US" sz="1200" dirty="0"/>
              <a:t>Metadata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C10C81C-B5C5-CCDA-BAFE-B70EA0F837E7}"/>
              </a:ext>
            </a:extLst>
          </p:cNvPr>
          <p:cNvSpPr txBox="1"/>
          <p:nvPr/>
        </p:nvSpPr>
        <p:spPr>
          <a:xfrm>
            <a:off x="9659399" y="3791512"/>
            <a:ext cx="206810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10" action="ppaction://hlinksldjump"/>
              </a:rPr>
              <a:t>Calibrations</a:t>
            </a:r>
            <a:endParaRPr lang="en-US" dirty="0"/>
          </a:p>
          <a:p>
            <a:pPr algn="ctr"/>
            <a:r>
              <a:rPr lang="en-US" sz="1200" dirty="0"/>
              <a:t>Calibrations: ABC, MESF, Scatter, Size, Photoelectrons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69F95E43-5730-2C25-F09B-611F0144E8E8}"/>
              </a:ext>
            </a:extLst>
          </p:cNvPr>
          <p:cNvCxnSpPr>
            <a:cxnSpLocks/>
            <a:stCxn id="13" idx="3"/>
            <a:endCxn id="85" idx="1"/>
          </p:cNvCxnSpPr>
          <p:nvPr/>
        </p:nvCxnSpPr>
        <p:spPr>
          <a:xfrm>
            <a:off x="7197683" y="2551432"/>
            <a:ext cx="2461716" cy="16094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084CBD3-88D5-75A7-1F65-16485CED5F85}"/>
              </a:ext>
            </a:extLst>
          </p:cNvPr>
          <p:cNvCxnSpPr>
            <a:cxnSpLocks/>
            <a:stCxn id="29" idx="0"/>
            <a:endCxn id="28" idx="1"/>
          </p:cNvCxnSpPr>
          <p:nvPr/>
        </p:nvCxnSpPr>
        <p:spPr>
          <a:xfrm rot="5400000" flipH="1" flipV="1">
            <a:off x="7871917" y="1233066"/>
            <a:ext cx="545324" cy="29566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27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A3AE1C-8AF3-655E-F5C1-4461DAD1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721" y="157928"/>
            <a:ext cx="5594097" cy="717226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SpectralCalibration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13C913D-7912-0192-2805-09CDEE53164A}"/>
              </a:ext>
            </a:extLst>
          </p:cNvPr>
          <p:cNvGrpSpPr/>
          <p:nvPr/>
        </p:nvGrpSpPr>
        <p:grpSpPr>
          <a:xfrm>
            <a:off x="270158" y="5109873"/>
            <a:ext cx="2257439" cy="1303376"/>
            <a:chOff x="383805" y="373864"/>
            <a:chExt cx="2908651" cy="155927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A79D5F-0B8B-C0B0-CA99-067DE8878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805" y="373864"/>
              <a:ext cx="2908651" cy="155927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888137-C5C0-131A-FC2F-266B96C07FD3}"/>
                </a:ext>
              </a:extLst>
            </p:cNvPr>
            <p:cNvSpPr txBox="1"/>
            <p:nvPr/>
          </p:nvSpPr>
          <p:spPr>
            <a:xfrm>
              <a:off x="384596" y="1189762"/>
              <a:ext cx="2907067" cy="4418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hlinkClick r:id="rId3" action="ppaction://hlinksldjump"/>
                </a:rPr>
                <a:t>CalibrationWindow</a:t>
              </a:r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4692557-D314-71C6-2A80-C19D85750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201" y="3711669"/>
            <a:ext cx="3402418" cy="153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0F6E2-EE2C-B2EC-5C61-BB4E9D73166B}"/>
              </a:ext>
            </a:extLst>
          </p:cNvPr>
          <p:cNvSpPr txBox="1"/>
          <p:nvPr/>
        </p:nvSpPr>
        <p:spPr>
          <a:xfrm>
            <a:off x="4202200" y="4988496"/>
            <a:ext cx="3402418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SpectralCalibration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Unmixing/Compensation Matrix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Generates unmixed/compensated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Types: Unmixed, Unmixing, Compensation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Normalized: Sum, Max, None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Metadata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15544-1236-8C70-F12B-90F9C5267266}"/>
              </a:ext>
            </a:extLst>
          </p:cNvPr>
          <p:cNvSpPr txBox="1"/>
          <p:nvPr/>
        </p:nvSpPr>
        <p:spPr>
          <a:xfrm>
            <a:off x="131684" y="2339541"/>
            <a:ext cx="382417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5" action="ppaction://hlinksldjump"/>
              </a:rPr>
              <a:t>CalibrationIO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Exports </a:t>
            </a:r>
            <a:r>
              <a:rPr lang="en-US" sz="1200" dirty="0" err="1"/>
              <a:t>json</a:t>
            </a:r>
            <a:r>
              <a:rPr lang="en-US" sz="1200" dirty="0"/>
              <a:t> of calibration and metadata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SpectralCalibration</a:t>
            </a:r>
            <a:r>
              <a:rPr lang="en-US" sz="1200" dirty="0"/>
              <a:t> exported as spectra that may be reconstructed as compensation or unmixing matrix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1E7A192-0295-E2FD-BCFD-2258882521F0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rot="5400000" flipH="1" flipV="1">
            <a:off x="797824" y="3863925"/>
            <a:ext cx="1847002" cy="6448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C9056C4-3890-98C6-5A0D-829CD96B0C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973"/>
          <a:stretch>
            <a:fillRect/>
          </a:stretch>
        </p:blipFill>
        <p:spPr>
          <a:xfrm>
            <a:off x="7418662" y="875154"/>
            <a:ext cx="4750676" cy="1888997"/>
          </a:xfrm>
          <a:prstGeom prst="rect">
            <a:avLst/>
          </a:prstGeom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D463EAD-A044-89FC-E5CD-7E2D5FA48F0A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2527597" y="4476955"/>
            <a:ext cx="1674604" cy="12846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11BF4AF-448F-41DB-624D-6DF3CA961EC1}"/>
              </a:ext>
            </a:extLst>
          </p:cNvPr>
          <p:cNvCxnSpPr>
            <a:cxnSpLocks/>
            <a:stCxn id="66" idx="0"/>
            <a:endCxn id="20" idx="1"/>
          </p:cNvCxnSpPr>
          <p:nvPr/>
        </p:nvCxnSpPr>
        <p:spPr>
          <a:xfrm rot="5400000" flipH="1" flipV="1">
            <a:off x="6421599" y="1073841"/>
            <a:ext cx="251251" cy="17428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6B90559-5CAE-4954-7E0E-18C46D6DB3E4}"/>
              </a:ext>
            </a:extLst>
          </p:cNvPr>
          <p:cNvCxnSpPr>
            <a:cxnSpLocks/>
            <a:stCxn id="20" idx="2"/>
            <a:endCxn id="37" idx="0"/>
          </p:cNvCxnSpPr>
          <p:nvPr/>
        </p:nvCxnSpPr>
        <p:spPr>
          <a:xfrm rot="16200000" flipH="1">
            <a:off x="9324902" y="3233248"/>
            <a:ext cx="1422221" cy="4840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90DAC03D-9F19-A7A7-DEF6-B184B9C353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195" y="4186372"/>
            <a:ext cx="3547660" cy="231018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2489E8E-4EB0-78C9-194F-972E8C3DDD66}"/>
              </a:ext>
            </a:extLst>
          </p:cNvPr>
          <p:cNvSpPr txBox="1"/>
          <p:nvPr/>
        </p:nvSpPr>
        <p:spPr>
          <a:xfrm>
            <a:off x="9979957" y="3213744"/>
            <a:ext cx="2021366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Unmixed Parameters for Calibration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69F9055D-948E-AC37-9379-8FEE91793B4D}"/>
              </a:ext>
            </a:extLst>
          </p:cNvPr>
          <p:cNvCxnSpPr>
            <a:cxnSpLocks/>
            <a:stCxn id="9" idx="3"/>
            <a:endCxn id="37" idx="1"/>
          </p:cNvCxnSpPr>
          <p:nvPr/>
        </p:nvCxnSpPr>
        <p:spPr>
          <a:xfrm>
            <a:off x="7604619" y="4476955"/>
            <a:ext cx="899576" cy="8645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8C9FDBF-AE89-7C53-CC1F-7F67817A0416}"/>
              </a:ext>
            </a:extLst>
          </p:cNvPr>
          <p:cNvSpPr txBox="1"/>
          <p:nvPr/>
        </p:nvSpPr>
        <p:spPr>
          <a:xfrm>
            <a:off x="4233155" y="2070904"/>
            <a:ext cx="288526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8" action="ppaction://hlinksldjump"/>
              </a:rPr>
              <a:t>ControlRelation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Organized controls used for unmixing/compensation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Planned parameter names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C40FFA4A-73AA-4BF5-4D94-2997FC57A0DB}"/>
              </a:ext>
            </a:extLst>
          </p:cNvPr>
          <p:cNvCxnSpPr>
            <a:cxnSpLocks/>
            <a:stCxn id="9" idx="0"/>
            <a:endCxn id="66" idx="2"/>
          </p:cNvCxnSpPr>
          <p:nvPr/>
        </p:nvCxnSpPr>
        <p:spPr>
          <a:xfrm rot="16200000" flipV="1">
            <a:off x="5430881" y="3239140"/>
            <a:ext cx="717435" cy="2276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C9EB77C-8F74-F964-A130-8F93FF3DB81F}"/>
              </a:ext>
            </a:extLst>
          </p:cNvPr>
          <p:cNvSpPr txBox="1"/>
          <p:nvPr/>
        </p:nvSpPr>
        <p:spPr>
          <a:xfrm>
            <a:off x="8630353" y="5632050"/>
            <a:ext cx="206810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9" action="ppaction://hlinksldjump"/>
              </a:rPr>
              <a:t>Calibrations</a:t>
            </a:r>
            <a:endParaRPr lang="en-US" dirty="0"/>
          </a:p>
          <a:p>
            <a:pPr algn="ctr"/>
            <a:r>
              <a:rPr lang="en-US" sz="1200" dirty="0"/>
              <a:t>Calibrations: ABC, MESF, Scatter, Size, Photoelectrons</a:t>
            </a:r>
          </a:p>
        </p:txBody>
      </p:sp>
    </p:spTree>
    <p:extLst>
      <p:ext uri="{BB962C8B-B14F-4D97-AF65-F5344CB8AC3E}">
        <p14:creationId xmlns:p14="http://schemas.microsoft.com/office/powerpoint/2010/main" val="382057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01C74A-E0F3-942E-394B-76363B79CA27}"/>
              </a:ext>
            </a:extLst>
          </p:cNvPr>
          <p:cNvSpPr txBox="1">
            <a:spLocks/>
          </p:cNvSpPr>
          <p:nvPr/>
        </p:nvSpPr>
        <p:spPr>
          <a:xfrm>
            <a:off x="3294721" y="157928"/>
            <a:ext cx="5594097" cy="71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Calibrations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19FA3-24C4-55D3-CDE7-1C11F0A0D14B}"/>
              </a:ext>
            </a:extLst>
          </p:cNvPr>
          <p:cNvSpPr txBox="1"/>
          <p:nvPr/>
        </p:nvSpPr>
        <p:spPr>
          <a:xfrm>
            <a:off x="5242831" y="2476409"/>
            <a:ext cx="206810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Calibrations</a:t>
            </a:r>
          </a:p>
          <a:p>
            <a:pPr algn="ctr"/>
            <a:r>
              <a:rPr lang="en-US" sz="1200" dirty="0"/>
              <a:t>Calibrations: ABC, MESF, Scatter, Size, Photoelectrons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FF732-012C-CB7C-2F8E-75384A42AD52}"/>
              </a:ext>
            </a:extLst>
          </p:cNvPr>
          <p:cNvSpPr txBox="1"/>
          <p:nvPr/>
        </p:nvSpPr>
        <p:spPr>
          <a:xfrm>
            <a:off x="8613026" y="3541527"/>
            <a:ext cx="20681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ABC Calibration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E2CE2-8D2C-C82F-C5F1-5C85707C2950}"/>
              </a:ext>
            </a:extLst>
          </p:cNvPr>
          <p:cNvSpPr txBox="1"/>
          <p:nvPr/>
        </p:nvSpPr>
        <p:spPr>
          <a:xfrm>
            <a:off x="7339657" y="3116413"/>
            <a:ext cx="197881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MESF Calibration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43D0C-9357-BFEB-4846-40D4B5C880FF}"/>
              </a:ext>
            </a:extLst>
          </p:cNvPr>
          <p:cNvSpPr txBox="1"/>
          <p:nvPr/>
        </p:nvSpPr>
        <p:spPr>
          <a:xfrm>
            <a:off x="300363" y="3574059"/>
            <a:ext cx="20681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Scatter Calibration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D7E15-76E6-B6C8-AFAD-25D8E0F5511D}"/>
              </a:ext>
            </a:extLst>
          </p:cNvPr>
          <p:cNvSpPr txBox="1"/>
          <p:nvPr/>
        </p:nvSpPr>
        <p:spPr>
          <a:xfrm>
            <a:off x="9830926" y="3988684"/>
            <a:ext cx="227553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Fluor Size Calibration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DA716-9AA1-75BF-DA10-309E225908C3}"/>
              </a:ext>
            </a:extLst>
          </p:cNvPr>
          <p:cNvSpPr txBox="1"/>
          <p:nvPr/>
        </p:nvSpPr>
        <p:spPr>
          <a:xfrm>
            <a:off x="2209451" y="4019989"/>
            <a:ext cx="186954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SPE Calibration</a:t>
            </a:r>
            <a:endParaRPr lang="en-US" sz="1200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A192C57-E54D-E401-DD70-725DDBA8AB85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6948600" y="2107663"/>
            <a:ext cx="895281" cy="45016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946D013-905E-CF15-D9A3-358360A7B364}"/>
              </a:ext>
            </a:extLst>
          </p:cNvPr>
          <p:cNvCxnSpPr>
            <a:cxnSpLocks/>
            <a:stCxn id="9" idx="2"/>
            <a:endCxn id="12" idx="1"/>
          </p:cNvCxnSpPr>
          <p:nvPr/>
        </p:nvCxnSpPr>
        <p:spPr>
          <a:xfrm rot="16200000" flipH="1">
            <a:off x="1886870" y="3390934"/>
            <a:ext cx="1139748" cy="22446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B5CDFD5-3E81-0AB2-7A79-CC8EB99044EE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7832987" y="1670433"/>
            <a:ext cx="448124" cy="58232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900AC93-1C33-329F-061C-D5C0D5E2EE0A}"/>
              </a:ext>
            </a:extLst>
          </p:cNvPr>
          <p:cNvCxnSpPr>
            <a:cxnSpLocks/>
            <a:stCxn id="11" idx="2"/>
            <a:endCxn id="12" idx="1"/>
          </p:cNvCxnSpPr>
          <p:nvPr/>
        </p:nvCxnSpPr>
        <p:spPr>
          <a:xfrm rot="16200000" flipH="1">
            <a:off x="3014740" y="4518804"/>
            <a:ext cx="693818" cy="4348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17F91EB-57C4-FA50-43B8-3E1B29CF4B65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5400000">
            <a:off x="3626154" y="923332"/>
            <a:ext cx="358986" cy="49424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D01EC63-85F8-AB05-295F-E2F40968BBF5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>
            <a:off x="7310931" y="2845741"/>
            <a:ext cx="3657763" cy="11429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90636C3-EE4A-8979-297F-8BE52A79ADBA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7310931" y="2845741"/>
            <a:ext cx="1018136" cy="2706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E62CEE4-3FE3-31D4-E5D4-7643C73CD1BC}"/>
              </a:ext>
            </a:extLst>
          </p:cNvPr>
          <p:cNvCxnSpPr>
            <a:cxnSpLocks/>
            <a:stCxn id="5" idx="3"/>
            <a:endCxn id="143" idx="1"/>
          </p:cNvCxnSpPr>
          <p:nvPr/>
        </p:nvCxnSpPr>
        <p:spPr>
          <a:xfrm>
            <a:off x="3848023" y="1291680"/>
            <a:ext cx="618822" cy="2364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3D61FBF-5933-5A4D-D62A-59E2F8C5A1A0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7310931" y="2845741"/>
            <a:ext cx="2336145" cy="6957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CC98FACA-3906-56A9-D3F0-A06EF1A71A69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6077039" y="2554111"/>
            <a:ext cx="1320395" cy="31836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3F72259-A6BA-CC51-8516-7CFBB08B2F14}"/>
              </a:ext>
            </a:extLst>
          </p:cNvPr>
          <p:cNvSpPr txBox="1"/>
          <p:nvPr/>
        </p:nvSpPr>
        <p:spPr>
          <a:xfrm>
            <a:off x="8258822" y="2571304"/>
            <a:ext cx="23014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Unmixed Parameters</a:t>
            </a:r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F9C3EA65-512E-08BD-ADAE-2E150BB18456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rot="5400000">
            <a:off x="4308094" y="2051202"/>
            <a:ext cx="804916" cy="31326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A012540-1C97-2188-8DD9-901DAA71D9AB}"/>
              </a:ext>
            </a:extLst>
          </p:cNvPr>
          <p:cNvSpPr txBox="1"/>
          <p:nvPr/>
        </p:nvSpPr>
        <p:spPr>
          <a:xfrm>
            <a:off x="3468808" y="3303387"/>
            <a:ext cx="191209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Raw Parameters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3F513-7A1E-BA02-79D5-91AB61C69F7E}"/>
              </a:ext>
            </a:extLst>
          </p:cNvPr>
          <p:cNvSpPr txBox="1"/>
          <p:nvPr/>
        </p:nvSpPr>
        <p:spPr>
          <a:xfrm>
            <a:off x="3579075" y="4806140"/>
            <a:ext cx="3132658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2" action="ppaction://hlinksldjump"/>
              </a:rPr>
              <a:t>CalibrationIO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Exports </a:t>
            </a:r>
            <a:r>
              <a:rPr lang="en-US" sz="1200" dirty="0" err="1"/>
              <a:t>json</a:t>
            </a:r>
            <a:r>
              <a:rPr lang="en-US" sz="1200" dirty="0"/>
              <a:t> of calibration and metadata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248839D-0797-4DA4-A836-6D5C95AFED5D}"/>
              </a:ext>
            </a:extLst>
          </p:cNvPr>
          <p:cNvSpPr txBox="1"/>
          <p:nvPr/>
        </p:nvSpPr>
        <p:spPr>
          <a:xfrm>
            <a:off x="4466845" y="1066453"/>
            <a:ext cx="3231199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3" action="ppaction://hlinksldjump"/>
              </a:rPr>
              <a:t>ControlRelation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Organized controls used for unmixing/compensation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Planned parameter names, inputs</a:t>
            </a: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E1B58CC3-6C7F-68FB-4C5E-897E74E20B6A}"/>
              </a:ext>
            </a:extLst>
          </p:cNvPr>
          <p:cNvCxnSpPr>
            <a:cxnSpLocks/>
            <a:stCxn id="143" idx="2"/>
            <a:endCxn id="6" idx="0"/>
          </p:cNvCxnSpPr>
          <p:nvPr/>
        </p:nvCxnSpPr>
        <p:spPr>
          <a:xfrm rot="16200000" flipH="1">
            <a:off x="5936350" y="2135878"/>
            <a:ext cx="486626" cy="1944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2" name="Picture 181">
            <a:extLst>
              <a:ext uri="{FF2B5EF4-FFF2-40B4-BE49-F238E27FC236}">
                <a16:creationId xmlns:a16="http://schemas.microsoft.com/office/drawing/2014/main" id="{D77BA978-2FB4-B561-A7B4-21473CA7A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163" y="113815"/>
            <a:ext cx="2017610" cy="2100811"/>
          </a:xfrm>
          <a:prstGeom prst="rect">
            <a:avLst/>
          </a:prstGeom>
        </p:spPr>
      </p:pic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886B8B7F-B96D-95BC-A31A-AE1E40DAEA31}"/>
              </a:ext>
            </a:extLst>
          </p:cNvPr>
          <p:cNvCxnSpPr>
            <a:cxnSpLocks/>
            <a:stCxn id="143" idx="3"/>
            <a:endCxn id="182" idx="1"/>
          </p:cNvCxnSpPr>
          <p:nvPr/>
        </p:nvCxnSpPr>
        <p:spPr>
          <a:xfrm flipV="1">
            <a:off x="7698044" y="1164221"/>
            <a:ext cx="1944119" cy="3638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EDEF5857-480B-DBF6-A4CD-37E9D1470795}"/>
              </a:ext>
            </a:extLst>
          </p:cNvPr>
          <p:cNvSpPr txBox="1"/>
          <p:nvPr/>
        </p:nvSpPr>
        <p:spPr>
          <a:xfrm>
            <a:off x="8104484" y="1309767"/>
            <a:ext cx="126586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Calibrated Parameters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2284B83-D1FC-1DBF-ADFD-4FAE9E89F63C}"/>
              </a:ext>
            </a:extLst>
          </p:cNvPr>
          <p:cNvSpPr txBox="1"/>
          <p:nvPr/>
        </p:nvSpPr>
        <p:spPr>
          <a:xfrm>
            <a:off x="9328282" y="113814"/>
            <a:ext cx="27781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5" action="ppaction://hlinksldjump"/>
              </a:rPr>
              <a:t>CalibrationWindow</a:t>
            </a:r>
            <a:r>
              <a:rPr lang="en-US" dirty="0">
                <a:hlinkClick r:id="rId5" action="ppaction://hlinksldjump"/>
              </a:rPr>
              <a:t> (GUI)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3D0BDE-0208-91FB-72FE-9CC2FEBBE2EF}"/>
              </a:ext>
            </a:extLst>
          </p:cNvPr>
          <p:cNvGrpSpPr/>
          <p:nvPr/>
        </p:nvGrpSpPr>
        <p:grpSpPr>
          <a:xfrm>
            <a:off x="300363" y="136585"/>
            <a:ext cx="3547660" cy="2313034"/>
            <a:chOff x="300363" y="136585"/>
            <a:chExt cx="3547660" cy="23130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0D2CA94-1427-AC9E-236D-A02DC751A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0363" y="136585"/>
              <a:ext cx="3547660" cy="2310189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6089C2A-818A-8B9E-0C33-07F6CDA07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4713" t="88308" b="4164"/>
            <a:stretch>
              <a:fillRect/>
            </a:stretch>
          </p:blipFill>
          <p:spPr>
            <a:xfrm>
              <a:off x="3228064" y="2257816"/>
              <a:ext cx="618823" cy="191803"/>
            </a:xfrm>
            <a:prstGeom prst="rect">
              <a:avLst/>
            </a:prstGeom>
          </p:spPr>
        </p:pic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C31A333B-E3A3-A910-C118-DCF539212C6A}"/>
              </a:ext>
            </a:extLst>
          </p:cNvPr>
          <p:cNvSpPr txBox="1"/>
          <p:nvPr/>
        </p:nvSpPr>
        <p:spPr>
          <a:xfrm>
            <a:off x="1274228" y="78871"/>
            <a:ext cx="27781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5" action="ppaction://hlinksldjump"/>
              </a:rPr>
              <a:t>CalibrationWindow</a:t>
            </a:r>
            <a:r>
              <a:rPr lang="en-US" dirty="0">
                <a:hlinkClick r:id="rId5" action="ppaction://hlinksldjump"/>
              </a:rPr>
              <a:t> (GUI)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400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5EEEA1C-30A2-1311-20C1-D8C5A09DC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6" y="2208047"/>
            <a:ext cx="2993301" cy="201294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E32C036-13C7-AB05-7055-613C655D5173}"/>
              </a:ext>
            </a:extLst>
          </p:cNvPr>
          <p:cNvSpPr txBox="1">
            <a:spLocks/>
          </p:cNvSpPr>
          <p:nvPr/>
        </p:nvSpPr>
        <p:spPr>
          <a:xfrm>
            <a:off x="3298951" y="158301"/>
            <a:ext cx="5594097" cy="71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CalibrationIO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809B48-099B-F598-6CA5-34D6D59F9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9" y="112961"/>
            <a:ext cx="4144060" cy="1864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2DC57-3BE2-780F-2096-A8CD39F8F9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26"/>
          <a:stretch>
            <a:fillRect/>
          </a:stretch>
        </p:blipFill>
        <p:spPr>
          <a:xfrm>
            <a:off x="4975061" y="2639863"/>
            <a:ext cx="3400119" cy="1066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61541B-EC91-0945-DAD8-604CBC7D8A3A}"/>
              </a:ext>
            </a:extLst>
          </p:cNvPr>
          <p:cNvSpPr txBox="1"/>
          <p:nvPr/>
        </p:nvSpPr>
        <p:spPr>
          <a:xfrm>
            <a:off x="143374" y="1907908"/>
            <a:ext cx="27781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5" action="ppaction://hlinksldjump"/>
              </a:rPr>
              <a:t>CalibrationWindow</a:t>
            </a:r>
            <a:r>
              <a:rPr lang="en-US" dirty="0">
                <a:hlinkClick r:id="rId5" action="ppaction://hlinksldjump"/>
              </a:rPr>
              <a:t> (GUI)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463228E-6B15-6E6A-CD12-F0217CBDE9B2}"/>
              </a:ext>
            </a:extLst>
          </p:cNvPr>
          <p:cNvCxnSpPr>
            <a:cxnSpLocks/>
            <a:stCxn id="92" idx="2"/>
            <a:endCxn id="4" idx="0"/>
          </p:cNvCxnSpPr>
          <p:nvPr/>
        </p:nvCxnSpPr>
        <p:spPr>
          <a:xfrm rot="16200000" flipH="1">
            <a:off x="4431859" y="-328774"/>
            <a:ext cx="667863" cy="2739713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5C670BE-7E85-D771-C510-FD3D130D2FBA}"/>
              </a:ext>
            </a:extLst>
          </p:cNvPr>
          <p:cNvCxnSpPr>
            <a:cxnSpLocks/>
            <a:stCxn id="90" idx="3"/>
            <a:endCxn id="4" idx="1"/>
          </p:cNvCxnSpPr>
          <p:nvPr/>
        </p:nvCxnSpPr>
        <p:spPr>
          <a:xfrm flipV="1">
            <a:off x="1362974" y="1836680"/>
            <a:ext cx="3685173" cy="1033738"/>
          </a:xfrm>
          <a:prstGeom prst="bentConnector3">
            <a:avLst>
              <a:gd name="adj1" fmla="val 83879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A41F4306-6B17-9263-853B-47377A838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395" y="1584958"/>
            <a:ext cx="2699385" cy="1317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7E5A1A1-CCBF-7E79-821C-1FFE1B600C6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0586"/>
          <a:stretch>
            <a:fillRect/>
          </a:stretch>
        </p:blipFill>
        <p:spPr>
          <a:xfrm>
            <a:off x="8944922" y="33070"/>
            <a:ext cx="3197212" cy="13481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B1B01F3-5ADF-92A9-EC0E-64916F546DA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8281"/>
          <a:stretch>
            <a:fillRect/>
          </a:stretch>
        </p:blipFill>
        <p:spPr>
          <a:xfrm>
            <a:off x="3298951" y="4935659"/>
            <a:ext cx="3163037" cy="170403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F79BF49-5A92-11AD-946F-F74E3A6AFA48}"/>
              </a:ext>
            </a:extLst>
          </p:cNvPr>
          <p:cNvSpPr/>
          <p:nvPr/>
        </p:nvSpPr>
        <p:spPr>
          <a:xfrm>
            <a:off x="6128732" y="2805491"/>
            <a:ext cx="976714" cy="848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A882BD2-20DA-22C7-CF9E-A112171A90E0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 rot="5400000">
            <a:off x="5108029" y="3426598"/>
            <a:ext cx="1281503" cy="1736619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0FDD7D1-687A-04A1-A141-BAD2A12E8F79}"/>
              </a:ext>
            </a:extLst>
          </p:cNvPr>
          <p:cNvSpPr/>
          <p:nvPr/>
        </p:nvSpPr>
        <p:spPr>
          <a:xfrm>
            <a:off x="7223147" y="2805490"/>
            <a:ext cx="1115624" cy="84866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87F68B1-7749-D97E-B45D-F3E8B7581933}"/>
              </a:ext>
            </a:extLst>
          </p:cNvPr>
          <p:cNvCxnSpPr>
            <a:cxnSpLocks/>
            <a:stCxn id="36" idx="3"/>
            <a:endCxn id="33" idx="1"/>
          </p:cNvCxnSpPr>
          <p:nvPr/>
        </p:nvCxnSpPr>
        <p:spPr>
          <a:xfrm flipV="1">
            <a:off x="8338771" y="707151"/>
            <a:ext cx="606151" cy="2522672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5FC9530-C3C3-FC2E-4A8F-6EBDC0EEE560}"/>
              </a:ext>
            </a:extLst>
          </p:cNvPr>
          <p:cNvSpPr txBox="1"/>
          <p:nvPr/>
        </p:nvSpPr>
        <p:spPr>
          <a:xfrm>
            <a:off x="3630544" y="3987583"/>
            <a:ext cx="1881836" cy="52322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Unmixed Parameters exported as Spectra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0C42C02-F36D-89E8-18A1-A3C18B90692E}"/>
              </a:ext>
            </a:extLst>
          </p:cNvPr>
          <p:cNvCxnSpPr>
            <a:cxnSpLocks/>
            <a:stCxn id="36" idx="3"/>
            <a:endCxn id="29" idx="1"/>
          </p:cNvCxnSpPr>
          <p:nvPr/>
        </p:nvCxnSpPr>
        <p:spPr>
          <a:xfrm flipV="1">
            <a:off x="8338771" y="2243905"/>
            <a:ext cx="1115624" cy="985918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CEF69C4-10A6-DE4D-A4D9-305753C7A8B5}"/>
              </a:ext>
            </a:extLst>
          </p:cNvPr>
          <p:cNvSpPr txBox="1"/>
          <p:nvPr/>
        </p:nvSpPr>
        <p:spPr>
          <a:xfrm>
            <a:off x="8447919" y="2976955"/>
            <a:ext cx="2093976" cy="52322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Calibrated Parameters exported as calibrations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5872432-9598-A01E-40E6-2D6AEC613BA3}"/>
              </a:ext>
            </a:extLst>
          </p:cNvPr>
          <p:cNvSpPr/>
          <p:nvPr/>
        </p:nvSpPr>
        <p:spPr>
          <a:xfrm>
            <a:off x="966159" y="2788238"/>
            <a:ext cx="396815" cy="1643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3E6647F-55F4-81C4-4B21-FE0685FEC031}"/>
              </a:ext>
            </a:extLst>
          </p:cNvPr>
          <p:cNvSpPr/>
          <p:nvPr/>
        </p:nvSpPr>
        <p:spPr>
          <a:xfrm>
            <a:off x="3197526" y="542792"/>
            <a:ext cx="396815" cy="16436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3F2949-A0DE-3C0C-5861-E4ADF9110F7A}"/>
              </a:ext>
            </a:extLst>
          </p:cNvPr>
          <p:cNvSpPr txBox="1"/>
          <p:nvPr/>
        </p:nvSpPr>
        <p:spPr>
          <a:xfrm>
            <a:off x="5048147" y="1375015"/>
            <a:ext cx="217500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CalibrationIO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Exports </a:t>
            </a:r>
            <a:r>
              <a:rPr lang="en-US" sz="1200" dirty="0" err="1"/>
              <a:t>json</a:t>
            </a:r>
            <a:r>
              <a:rPr lang="en-US" sz="1200" dirty="0"/>
              <a:t> of calibrations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Exports </a:t>
            </a:r>
            <a:r>
              <a:rPr lang="en-US" sz="1200" dirty="0" err="1"/>
              <a:t>json</a:t>
            </a:r>
            <a:r>
              <a:rPr lang="en-US" sz="1200" dirty="0"/>
              <a:t> of spectra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Includes metadata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3B7D4F41-8179-6605-32AA-8A09F5AF6534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6122795" y="2311197"/>
            <a:ext cx="507146" cy="481442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EB0EDF79-1EB6-AC7C-93DD-51B5498107C1}"/>
              </a:ext>
            </a:extLst>
          </p:cNvPr>
          <p:cNvCxnSpPr>
            <a:cxnSpLocks/>
            <a:stCxn id="4" idx="3"/>
            <a:endCxn id="36" idx="0"/>
          </p:cNvCxnSpPr>
          <p:nvPr/>
        </p:nvCxnSpPr>
        <p:spPr>
          <a:xfrm>
            <a:off x="7223147" y="1836680"/>
            <a:ext cx="557812" cy="968810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5ABD3B4-293C-B85B-DD12-769AC971D21D}"/>
              </a:ext>
            </a:extLst>
          </p:cNvPr>
          <p:cNvSpPr txBox="1"/>
          <p:nvPr/>
        </p:nvSpPr>
        <p:spPr>
          <a:xfrm>
            <a:off x="7619575" y="4387205"/>
            <a:ext cx="4074296" cy="18774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Calibrated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Antibody Binding Capacity (ABC)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Mean Equivalent Soluble Fluorophore (MESF)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Equivalent Reference Fluorophores (ERF)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Diameter (nm)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Surface Area (nm2)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Volume (nm3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Scattering Cross-Section (nm2)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76D54F6-E1E9-9DDA-B38D-6707178335AF}"/>
              </a:ext>
            </a:extLst>
          </p:cNvPr>
          <p:cNvCxnSpPr>
            <a:cxnSpLocks/>
            <a:stCxn id="35" idx="2"/>
            <a:endCxn id="20" idx="0"/>
          </p:cNvCxnSpPr>
          <p:nvPr/>
        </p:nvCxnSpPr>
        <p:spPr>
          <a:xfrm rot="16200000" flipH="1">
            <a:off x="9132300" y="3862782"/>
            <a:ext cx="887030" cy="161816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623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44A4BAC0-6E5E-91C0-19C6-726EF1AD0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71" y="1729143"/>
            <a:ext cx="4155403" cy="295472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DA8C1AF-C19A-54B8-C06D-FF063BD4D923}"/>
              </a:ext>
            </a:extLst>
          </p:cNvPr>
          <p:cNvSpPr txBox="1">
            <a:spLocks/>
          </p:cNvSpPr>
          <p:nvPr/>
        </p:nvSpPr>
        <p:spPr>
          <a:xfrm>
            <a:off x="3298951" y="158301"/>
            <a:ext cx="5594097" cy="71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CalibrateFilesWindow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BA055-7D4A-E81C-DC11-52774D8FFA0D}"/>
              </a:ext>
            </a:extLst>
          </p:cNvPr>
          <p:cNvSpPr txBox="1"/>
          <p:nvPr/>
        </p:nvSpPr>
        <p:spPr>
          <a:xfrm>
            <a:off x="2380234" y="1359811"/>
            <a:ext cx="276463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3" action="ppaction://hlinksldjump"/>
              </a:rPr>
              <a:t>CalibrateFilesWindow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E79B1-D25C-62CB-9952-C66E4A90A27F}"/>
              </a:ext>
            </a:extLst>
          </p:cNvPr>
          <p:cNvSpPr txBox="1"/>
          <p:nvPr/>
        </p:nvSpPr>
        <p:spPr>
          <a:xfrm>
            <a:off x="258533" y="175622"/>
            <a:ext cx="1905230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4" action="ppaction://hlinksldjump"/>
              </a:rPr>
              <a:t>DataSet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Calibration: False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Sample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Fluor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Controls and Samples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A96BC7-41EF-243D-419C-75A2661142CC}"/>
              </a:ext>
            </a:extLst>
          </p:cNvPr>
          <p:cNvSpPr/>
          <p:nvPr/>
        </p:nvSpPr>
        <p:spPr>
          <a:xfrm>
            <a:off x="1714786" y="1914880"/>
            <a:ext cx="1380227" cy="24671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E7DF039-75F1-A483-B671-9C3C83E93784}"/>
              </a:ext>
            </a:extLst>
          </p:cNvPr>
          <p:cNvCxnSpPr>
            <a:cxnSpLocks/>
            <a:stCxn id="24" idx="1"/>
            <a:endCxn id="7" idx="2"/>
          </p:cNvCxnSpPr>
          <p:nvPr/>
        </p:nvCxnSpPr>
        <p:spPr>
          <a:xfrm rot="10800000">
            <a:off x="1211149" y="1468284"/>
            <a:ext cx="486623" cy="17382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78D7D51-0805-AF59-37CA-47B6CAC73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806988"/>
            <a:ext cx="3970639" cy="19528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E26717B-7895-0BF6-DEB0-4906C655AA45}"/>
              </a:ext>
            </a:extLst>
          </p:cNvPr>
          <p:cNvSpPr/>
          <p:nvPr/>
        </p:nvSpPr>
        <p:spPr>
          <a:xfrm>
            <a:off x="3347325" y="3372195"/>
            <a:ext cx="2369999" cy="10912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6B1EA9F-9647-E9EF-6088-FFA145209F80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>
            <a:off x="5717324" y="3917839"/>
            <a:ext cx="378676" cy="18655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04C2BC30-6831-E0DF-4BAE-4B52FBB87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3048" y="281334"/>
            <a:ext cx="2860398" cy="21170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6C5F8A4-E679-1104-6643-91A528BE8AA1}"/>
              </a:ext>
            </a:extLst>
          </p:cNvPr>
          <p:cNvSpPr txBox="1"/>
          <p:nvPr/>
        </p:nvSpPr>
        <p:spPr>
          <a:xfrm>
            <a:off x="10018157" y="147582"/>
            <a:ext cx="20927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Calibration Library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953014-00C0-3B27-35A7-153E154CC3D0}"/>
              </a:ext>
            </a:extLst>
          </p:cNvPr>
          <p:cNvSpPr/>
          <p:nvPr/>
        </p:nvSpPr>
        <p:spPr>
          <a:xfrm>
            <a:off x="3359968" y="1849835"/>
            <a:ext cx="2369999" cy="10912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9C9DA72-D3BA-CC14-2429-6D5A4DCA22C7}"/>
              </a:ext>
            </a:extLst>
          </p:cNvPr>
          <p:cNvCxnSpPr>
            <a:cxnSpLocks/>
            <a:stCxn id="29" idx="3"/>
            <a:endCxn id="21" idx="1"/>
          </p:cNvCxnSpPr>
          <p:nvPr/>
        </p:nvCxnSpPr>
        <p:spPr>
          <a:xfrm flipV="1">
            <a:off x="5729967" y="1339860"/>
            <a:ext cx="3163081" cy="10556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9726FFE-9590-24ED-147C-9A68F408DF39}"/>
              </a:ext>
            </a:extLst>
          </p:cNvPr>
          <p:cNvSpPr txBox="1"/>
          <p:nvPr/>
        </p:nvSpPr>
        <p:spPr>
          <a:xfrm>
            <a:off x="6388101" y="1554558"/>
            <a:ext cx="238532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Calibrations read based on instrument serial number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7D0B36-FFBD-0D4E-1234-C3AAE43F588B}"/>
              </a:ext>
            </a:extLst>
          </p:cNvPr>
          <p:cNvSpPr/>
          <p:nvPr/>
        </p:nvSpPr>
        <p:spPr>
          <a:xfrm>
            <a:off x="5144873" y="2980034"/>
            <a:ext cx="585094" cy="16842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4DD1CA-F3EB-3C60-2CFB-C4CE409C8300}"/>
              </a:ext>
            </a:extLst>
          </p:cNvPr>
          <p:cNvSpPr txBox="1"/>
          <p:nvPr/>
        </p:nvSpPr>
        <p:spPr>
          <a:xfrm>
            <a:off x="7580764" y="3165709"/>
            <a:ext cx="3726882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Add Calibrations: Adds associated calibrated parameters to the export parameter list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DA972E3-2434-CD68-CBAB-9B1494774772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5729967" y="3064246"/>
            <a:ext cx="1850797" cy="36307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BDBA60D-8204-1C21-54D9-45B26A787485}"/>
              </a:ext>
            </a:extLst>
          </p:cNvPr>
          <p:cNvCxnSpPr>
            <a:cxnSpLocks/>
            <a:stCxn id="38" idx="2"/>
            <a:endCxn id="14" idx="0"/>
          </p:cNvCxnSpPr>
          <p:nvPr/>
        </p:nvCxnSpPr>
        <p:spPr>
          <a:xfrm rot="5400000">
            <a:off x="8203734" y="3566516"/>
            <a:ext cx="1118059" cy="1362885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085BF12-6144-7CCF-A349-C6DD2C809141}"/>
              </a:ext>
            </a:extLst>
          </p:cNvPr>
          <p:cNvSpPr/>
          <p:nvPr/>
        </p:nvSpPr>
        <p:spPr>
          <a:xfrm>
            <a:off x="6253928" y="5348253"/>
            <a:ext cx="3692768" cy="2342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414D35-6D6E-F4AD-C4BB-6AB940110051}"/>
              </a:ext>
            </a:extLst>
          </p:cNvPr>
          <p:cNvSpPr txBox="1"/>
          <p:nvPr/>
        </p:nvSpPr>
        <p:spPr>
          <a:xfrm>
            <a:off x="10551496" y="4456253"/>
            <a:ext cx="155944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Raw Parameters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96B273-764A-BD79-A8C4-E400877E1D16}"/>
              </a:ext>
            </a:extLst>
          </p:cNvPr>
          <p:cNvSpPr txBox="1"/>
          <p:nvPr/>
        </p:nvSpPr>
        <p:spPr>
          <a:xfrm>
            <a:off x="10311848" y="5103486"/>
            <a:ext cx="1799089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Unmixed Parameters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9C5E4B9-9CB1-C818-0C15-458BF5DC4DCE}"/>
              </a:ext>
            </a:extLst>
          </p:cNvPr>
          <p:cNvSpPr/>
          <p:nvPr/>
        </p:nvSpPr>
        <p:spPr>
          <a:xfrm>
            <a:off x="6259395" y="5600111"/>
            <a:ext cx="3687302" cy="3410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4CF607B5-41BB-9785-C084-33F597A540A6}"/>
              </a:ext>
            </a:extLst>
          </p:cNvPr>
          <p:cNvCxnSpPr>
            <a:cxnSpLocks/>
            <a:stCxn id="50" idx="2"/>
            <a:endCxn id="51" idx="3"/>
          </p:cNvCxnSpPr>
          <p:nvPr/>
        </p:nvCxnSpPr>
        <p:spPr>
          <a:xfrm rot="5400000">
            <a:off x="10399350" y="4958610"/>
            <a:ext cx="359390" cy="1264696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0F4E334-11F3-6231-F210-DE66CAF0920D}"/>
              </a:ext>
            </a:extLst>
          </p:cNvPr>
          <p:cNvSpPr txBox="1"/>
          <p:nvPr/>
        </p:nvSpPr>
        <p:spPr>
          <a:xfrm>
            <a:off x="10176085" y="6402641"/>
            <a:ext cx="1934851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Calibrated Parameters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D2AEDA-C7E2-E13F-C9A0-DAA0862127BC}"/>
              </a:ext>
            </a:extLst>
          </p:cNvPr>
          <p:cNvSpPr/>
          <p:nvPr/>
        </p:nvSpPr>
        <p:spPr>
          <a:xfrm>
            <a:off x="6253929" y="5958779"/>
            <a:ext cx="3692768" cy="62539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89965658-62A9-5674-7751-82346F37AD7F}"/>
              </a:ext>
            </a:extLst>
          </p:cNvPr>
          <p:cNvCxnSpPr>
            <a:cxnSpLocks/>
            <a:stCxn id="53" idx="0"/>
            <a:endCxn id="54" idx="3"/>
          </p:cNvCxnSpPr>
          <p:nvPr/>
        </p:nvCxnSpPr>
        <p:spPr>
          <a:xfrm rot="16200000" flipV="1">
            <a:off x="10479523" y="5738653"/>
            <a:ext cx="131163" cy="1196814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249EEEE5-C6E9-F9D3-7CB1-EEC6A61664C2}"/>
              </a:ext>
            </a:extLst>
          </p:cNvPr>
          <p:cNvCxnSpPr>
            <a:cxnSpLocks/>
            <a:stCxn id="49" idx="1"/>
            <a:endCxn id="48" idx="3"/>
          </p:cNvCxnSpPr>
          <p:nvPr/>
        </p:nvCxnSpPr>
        <p:spPr>
          <a:xfrm rot="10800000" flipV="1">
            <a:off x="9946696" y="4610142"/>
            <a:ext cx="604800" cy="8552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D7D6E94-50BB-C8A0-9B6A-75FEF5B8550E}"/>
              </a:ext>
            </a:extLst>
          </p:cNvPr>
          <p:cNvSpPr/>
          <p:nvPr/>
        </p:nvSpPr>
        <p:spPr>
          <a:xfrm>
            <a:off x="5364590" y="4507478"/>
            <a:ext cx="378677" cy="15880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E8C5EF55-0A89-448A-C494-D0A44AAD9538}"/>
              </a:ext>
            </a:extLst>
          </p:cNvPr>
          <p:cNvCxnSpPr>
            <a:cxnSpLocks/>
            <a:stCxn id="136" idx="2"/>
            <a:endCxn id="140" idx="0"/>
          </p:cNvCxnSpPr>
          <p:nvPr/>
        </p:nvCxnSpPr>
        <p:spPr>
          <a:xfrm rot="5400000">
            <a:off x="4146534" y="3805800"/>
            <a:ext cx="546916" cy="2267875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907E32B-62C1-7AD0-7FAE-B3BDA0E193DA}"/>
              </a:ext>
            </a:extLst>
          </p:cNvPr>
          <p:cNvSpPr txBox="1"/>
          <p:nvPr/>
        </p:nvSpPr>
        <p:spPr>
          <a:xfrm>
            <a:off x="1427235" y="5213195"/>
            <a:ext cx="3717637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7" action="ppaction://hlinksldjump"/>
              </a:rPr>
              <a:t>FileCalibration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Compiles calibrations in an order that allows calibrated parameters to depend on each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Runs “Calibrations” on Data in the “Data List” and exports them with the “Export Parameters” added.</a:t>
            </a:r>
          </a:p>
        </p:txBody>
      </p:sp>
    </p:spTree>
    <p:extLst>
      <p:ext uri="{BB962C8B-B14F-4D97-AF65-F5344CB8AC3E}">
        <p14:creationId xmlns:p14="http://schemas.microsoft.com/office/powerpoint/2010/main" val="63736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2363C2-DA0E-A611-1AA1-5B93B3A9682D}"/>
              </a:ext>
            </a:extLst>
          </p:cNvPr>
          <p:cNvSpPr txBox="1">
            <a:spLocks/>
          </p:cNvSpPr>
          <p:nvPr/>
        </p:nvSpPr>
        <p:spPr>
          <a:xfrm>
            <a:off x="3298952" y="158301"/>
            <a:ext cx="4337796" cy="71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FileCalibration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1610B-9396-801B-E4F8-22D58BEA02CB}"/>
              </a:ext>
            </a:extLst>
          </p:cNvPr>
          <p:cNvSpPr txBox="1"/>
          <p:nvPr/>
        </p:nvSpPr>
        <p:spPr>
          <a:xfrm>
            <a:off x="2473524" y="3175363"/>
            <a:ext cx="3717637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FileCalibration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Compiles calibrations in an order that allows calibrated parameters to depend on each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Runs “Calibrations” on Data in the “Data List” and exports them with the “Export Parameters” added.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DF807-0CBF-6D8F-A61C-D414B68EE0B9}"/>
              </a:ext>
            </a:extLst>
          </p:cNvPr>
          <p:cNvSpPr txBox="1"/>
          <p:nvPr/>
        </p:nvSpPr>
        <p:spPr>
          <a:xfrm>
            <a:off x="3623477" y="843922"/>
            <a:ext cx="3018484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Compile Calibrations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Compiles calibrations using an order of operations to ensure calibrations have required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Creates a list of expected calibrated parameters for export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80960-A9C4-FECB-517E-DBAF95B25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116"/>
            <a:ext cx="3456445" cy="2457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06AA5B-3D6D-0CFD-9EE2-0D4BBB199967}"/>
              </a:ext>
            </a:extLst>
          </p:cNvPr>
          <p:cNvSpPr txBox="1"/>
          <p:nvPr/>
        </p:nvSpPr>
        <p:spPr>
          <a:xfrm>
            <a:off x="117988" y="82974"/>
            <a:ext cx="276463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3" action="ppaction://hlinksldjump"/>
              </a:rPr>
              <a:t>CalibrateFilesWindow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0C4586-0BF0-2C15-858A-791768B624B7}"/>
              </a:ext>
            </a:extLst>
          </p:cNvPr>
          <p:cNvSpPr/>
          <p:nvPr/>
        </p:nvSpPr>
        <p:spPr>
          <a:xfrm>
            <a:off x="3028608" y="2687038"/>
            <a:ext cx="378677" cy="15880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29B0AFE-FC57-6228-C12D-0BAAB6D56F3A}"/>
              </a:ext>
            </a:extLst>
          </p:cNvPr>
          <p:cNvCxnSpPr>
            <a:cxnSpLocks/>
            <a:stCxn id="14" idx="2"/>
            <a:endCxn id="5" idx="1"/>
          </p:cNvCxnSpPr>
          <p:nvPr/>
        </p:nvCxnSpPr>
        <p:spPr>
          <a:xfrm rot="5400000">
            <a:off x="2403975" y="2915389"/>
            <a:ext cx="883522" cy="744423"/>
          </a:xfrm>
          <a:prstGeom prst="bentConnector4">
            <a:avLst>
              <a:gd name="adj1" fmla="val 18648"/>
              <a:gd name="adj2" fmla="val 130708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E8D2F66-224B-474C-4F69-A9E0D949FC37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rot="5400000" flipH="1" flipV="1">
            <a:off x="4213142" y="2255786"/>
            <a:ext cx="1038779" cy="8003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A36E89F-CEC2-0F04-EB94-27C3A7282149}"/>
              </a:ext>
            </a:extLst>
          </p:cNvPr>
          <p:cNvCxnSpPr>
            <a:cxnSpLocks/>
            <a:stCxn id="5" idx="3"/>
            <a:endCxn id="27" idx="1"/>
          </p:cNvCxnSpPr>
          <p:nvPr/>
        </p:nvCxnSpPr>
        <p:spPr>
          <a:xfrm flipV="1">
            <a:off x="6191161" y="3175363"/>
            <a:ext cx="623682" cy="5539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75FAAB5-9E5B-7706-6EAF-D13A0E2EF780}"/>
              </a:ext>
            </a:extLst>
          </p:cNvPr>
          <p:cNvSpPr txBox="1"/>
          <p:nvPr/>
        </p:nvSpPr>
        <p:spPr>
          <a:xfrm>
            <a:off x="6814843" y="2344366"/>
            <a:ext cx="4591665" cy="16619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Calibrate File(s)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Constructs an unmixing/compensation matrix from selected spectra.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Unmixes/compensates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Can generate residuals and predicted values for the raw parameters allowing raw parameters to be compared to those predicted by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Calibrates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9864EA4-5815-4231-2046-18313136880B}"/>
              </a:ext>
            </a:extLst>
          </p:cNvPr>
          <p:cNvCxnSpPr>
            <a:cxnSpLocks/>
            <a:stCxn id="5" idx="2"/>
            <a:endCxn id="42" idx="1"/>
          </p:cNvCxnSpPr>
          <p:nvPr/>
        </p:nvCxnSpPr>
        <p:spPr>
          <a:xfrm rot="16200000" flipH="1">
            <a:off x="4844439" y="3771262"/>
            <a:ext cx="1146467" cy="21706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D411D1-5048-AE69-9686-0282BDC46A1A}"/>
              </a:ext>
            </a:extLst>
          </p:cNvPr>
          <p:cNvSpPr txBox="1"/>
          <p:nvPr/>
        </p:nvSpPr>
        <p:spPr>
          <a:xfrm>
            <a:off x="7417528" y="232501"/>
            <a:ext cx="4074296" cy="18774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Calibrated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Antibody Binding Capacity (ABC)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Mean Equivalent Soluble Fluorophore (MESF)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Equivalent Reference Fluorophores (ERF)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Diameter (nm)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Surface Area (nm2)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Volume (nm3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Scattering Cross-Section (nm2)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37E81D8-C15D-B311-8A8C-6146788FA5E9}"/>
              </a:ext>
            </a:extLst>
          </p:cNvPr>
          <p:cNvCxnSpPr>
            <a:cxnSpLocks/>
            <a:stCxn id="27" idx="3"/>
            <a:endCxn id="20" idx="3"/>
          </p:cNvCxnSpPr>
          <p:nvPr/>
        </p:nvCxnSpPr>
        <p:spPr>
          <a:xfrm flipV="1">
            <a:off x="11406508" y="1171220"/>
            <a:ext cx="85316" cy="2004143"/>
          </a:xfrm>
          <a:prstGeom prst="bentConnector3">
            <a:avLst>
              <a:gd name="adj1" fmla="val 367945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graph with green and blue lines&#10;&#10;AI-generated content may be incorrect.">
            <a:extLst>
              <a:ext uri="{FF2B5EF4-FFF2-40B4-BE49-F238E27FC236}">
                <a16:creationId xmlns:a16="http://schemas.microsoft.com/office/drawing/2014/main" id="{F082E8E9-1CE3-49E4-D945-AF33789B4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002" y="4159953"/>
            <a:ext cx="4682531" cy="2539746"/>
          </a:xfrm>
          <a:prstGeom prst="rect">
            <a:avLst/>
          </a:prstGeom>
        </p:spPr>
      </p:pic>
      <p:pic>
        <p:nvPicPr>
          <p:cNvPr id="56" name="Picture 55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26E6B86C-4FAD-CF71-630B-9EFD47CA5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6" y="4405618"/>
            <a:ext cx="3557996" cy="2048414"/>
          </a:xfrm>
          <a:prstGeom prst="rect">
            <a:avLst/>
          </a:prstGeom>
        </p:spPr>
      </p:pic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D6ED8CD-FC78-885B-7545-56F07280D5C9}"/>
              </a:ext>
            </a:extLst>
          </p:cNvPr>
          <p:cNvCxnSpPr>
            <a:cxnSpLocks/>
            <a:stCxn id="5" idx="2"/>
            <a:endCxn id="56" idx="3"/>
          </p:cNvCxnSpPr>
          <p:nvPr/>
        </p:nvCxnSpPr>
        <p:spPr>
          <a:xfrm rot="5400000">
            <a:off x="3391555" y="4489037"/>
            <a:ext cx="1146466" cy="7351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E98EAF3-04C1-0781-D79C-DCCF009591BB}"/>
              </a:ext>
            </a:extLst>
          </p:cNvPr>
          <p:cNvSpPr txBox="1"/>
          <p:nvPr/>
        </p:nvSpPr>
        <p:spPr>
          <a:xfrm>
            <a:off x="3931758" y="4975853"/>
            <a:ext cx="216424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Spectral Overlay of Unmixed Components (In Progress)</a:t>
            </a:r>
          </a:p>
        </p:txBody>
      </p:sp>
    </p:spTree>
    <p:extLst>
      <p:ext uri="{BB962C8B-B14F-4D97-AF65-F5344CB8AC3E}">
        <p14:creationId xmlns:p14="http://schemas.microsoft.com/office/powerpoint/2010/main" val="374015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8C16-8CC6-A403-E6AF-6F0A3F383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Calibration (WIP)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D26B1-DCFA-60C5-5FD3-996F7A0D8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6" y="2345644"/>
            <a:ext cx="1354494" cy="1450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E5F9EF-3E50-31D9-654F-5CF3EE3E6268}"/>
              </a:ext>
            </a:extLst>
          </p:cNvPr>
          <p:cNvSpPr txBox="1"/>
          <p:nvPr/>
        </p:nvSpPr>
        <p:spPr>
          <a:xfrm>
            <a:off x="2553066" y="2695869"/>
            <a:ext cx="240729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3" action="ppaction://hlinksldjump"/>
              </a:rPr>
              <a:t>ControlRelations</a:t>
            </a:r>
            <a:endParaRPr lang="en-US" dirty="0"/>
          </a:p>
          <a:p>
            <a:pPr algn="ctr"/>
            <a:r>
              <a:rPr lang="en-US" sz="1200" dirty="0"/>
              <a:t>Assigns controls</a:t>
            </a:r>
          </a:p>
          <a:p>
            <a:pPr algn="ctr"/>
            <a:r>
              <a:rPr lang="en-US" sz="1200" dirty="0"/>
              <a:t>Defines input/output parameters</a:t>
            </a:r>
          </a:p>
          <a:p>
            <a:pPr algn="ctr"/>
            <a:r>
              <a:rPr lang="en-US" sz="1200" dirty="0"/>
              <a:t>Identifies Populations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3E6D8-896B-952D-FA22-F884AE76F125}"/>
              </a:ext>
            </a:extLst>
          </p:cNvPr>
          <p:cNvSpPr txBox="1"/>
          <p:nvPr/>
        </p:nvSpPr>
        <p:spPr>
          <a:xfrm>
            <a:off x="1399542" y="4070382"/>
            <a:ext cx="2829122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4" action="ppaction://hlinksldjump"/>
              </a:rPr>
              <a:t>DataSet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Calibration: True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Sample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Fluor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Identifies Controls and Samples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E88D15C-5C6D-E623-3A30-350BDD0351ED}"/>
              </a:ext>
            </a:extLst>
          </p:cNvPr>
          <p:cNvCxnSpPr>
            <a:stCxn id="4" idx="2"/>
            <a:endCxn id="6" idx="1"/>
          </p:cNvCxnSpPr>
          <p:nvPr/>
        </p:nvCxnSpPr>
        <p:spPr>
          <a:xfrm rot="16200000" flipH="1">
            <a:off x="698507" y="3923345"/>
            <a:ext cx="828370" cy="573699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C228562-9844-6CB2-0AE8-9ED96DB1D946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3059818" y="3373485"/>
            <a:ext cx="451183" cy="9426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321185-A4CD-0F00-FFAA-2ACF099A7091}"/>
              </a:ext>
            </a:extLst>
          </p:cNvPr>
          <p:cNvSpPr txBox="1"/>
          <p:nvPr/>
        </p:nvSpPr>
        <p:spPr>
          <a:xfrm>
            <a:off x="1319574" y="1496900"/>
            <a:ext cx="36407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ToDo</a:t>
            </a:r>
            <a:r>
              <a:rPr lang="en-US" dirty="0"/>
              <a:t>: Automated Gating Functions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F5DBC60-20BB-1427-F255-1F50501F23F4}"/>
              </a:ext>
            </a:extLst>
          </p:cNvPr>
          <p:cNvCxnSpPr>
            <a:stCxn id="15" idx="2"/>
            <a:endCxn id="5" idx="0"/>
          </p:cNvCxnSpPr>
          <p:nvPr/>
        </p:nvCxnSpPr>
        <p:spPr>
          <a:xfrm rot="16200000" flipH="1">
            <a:off x="3033524" y="1972677"/>
            <a:ext cx="829637" cy="616746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48E8D91-E1FA-AC57-38E7-C6C57142F8CD}"/>
              </a:ext>
            </a:extLst>
          </p:cNvPr>
          <p:cNvSpPr txBox="1"/>
          <p:nvPr/>
        </p:nvSpPr>
        <p:spPr>
          <a:xfrm>
            <a:off x="245235" y="5567130"/>
            <a:ext cx="304017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ToDo</a:t>
            </a:r>
            <a:r>
              <a:rPr lang="en-US" dirty="0"/>
              <a:t>: </a:t>
            </a:r>
            <a:r>
              <a:rPr lang="en-US" dirty="0" err="1"/>
              <a:t>filepaths</a:t>
            </a:r>
            <a:r>
              <a:rPr lang="en-US" dirty="0"/>
              <a:t>/</a:t>
            </a:r>
            <a:r>
              <a:rPr lang="en-US" dirty="0" err="1"/>
              <a:t>dirpaths</a:t>
            </a:r>
            <a:endParaRPr lang="en-US" dirty="0"/>
          </a:p>
          <a:p>
            <a:r>
              <a:rPr lang="en-US" dirty="0"/>
              <a:t>Raw Data</a:t>
            </a:r>
          </a:p>
          <a:p>
            <a:r>
              <a:rPr lang="en-US" dirty="0"/>
              <a:t>For calibration creation</a:t>
            </a:r>
          </a:p>
          <a:p>
            <a:r>
              <a:rPr lang="en-US" dirty="0"/>
              <a:t>For calibration application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00BBC5A-559E-5ED4-A829-5EC9F29FEE27}"/>
              </a:ext>
            </a:extLst>
          </p:cNvPr>
          <p:cNvCxnSpPr>
            <a:cxnSpLocks/>
            <a:stCxn id="22" idx="0"/>
            <a:endCxn id="6" idx="2"/>
          </p:cNvCxnSpPr>
          <p:nvPr/>
        </p:nvCxnSpPr>
        <p:spPr>
          <a:xfrm rot="5400000" flipH="1" flipV="1">
            <a:off x="2095336" y="4848364"/>
            <a:ext cx="388752" cy="104878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04E6674-DF47-8198-07AC-94D960E3F301}"/>
              </a:ext>
            </a:extLst>
          </p:cNvPr>
          <p:cNvSpPr txBox="1"/>
          <p:nvPr/>
        </p:nvSpPr>
        <p:spPr>
          <a:xfrm>
            <a:off x="5456770" y="1496899"/>
            <a:ext cx="240729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5" action="ppaction://hlinksldjump"/>
              </a:rPr>
              <a:t>SpectralCalibration</a:t>
            </a:r>
            <a:endParaRPr lang="en-US" dirty="0"/>
          </a:p>
          <a:p>
            <a:pPr algn="ctr"/>
            <a:r>
              <a:rPr lang="en-US" sz="1200" dirty="0"/>
              <a:t>Unmixing/Compensation</a:t>
            </a:r>
          </a:p>
          <a:p>
            <a:pPr algn="ctr"/>
            <a:r>
              <a:rPr lang="en-US" sz="1200" dirty="0"/>
              <a:t>Metadata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0D21C2-E8A0-2DAA-3172-6BED8FBD3AE8}"/>
              </a:ext>
            </a:extLst>
          </p:cNvPr>
          <p:cNvSpPr txBox="1"/>
          <p:nvPr/>
        </p:nvSpPr>
        <p:spPr>
          <a:xfrm>
            <a:off x="5846411" y="2701495"/>
            <a:ext cx="206810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6" action="ppaction://hlinksldjump"/>
              </a:rPr>
              <a:t>Calibrations</a:t>
            </a:r>
            <a:endParaRPr lang="en-US" dirty="0"/>
          </a:p>
          <a:p>
            <a:pPr algn="ctr"/>
            <a:r>
              <a:rPr lang="en-US" sz="1200" dirty="0"/>
              <a:t>Calibrations: ABC, MESF, Scatter, Size, Photoelectrons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FE2E9DC-451C-E45E-1BE3-1CD936D31444}"/>
              </a:ext>
            </a:extLst>
          </p:cNvPr>
          <p:cNvCxnSpPr>
            <a:stCxn id="5" idx="3"/>
            <a:endCxn id="27" idx="1"/>
          </p:cNvCxnSpPr>
          <p:nvPr/>
        </p:nvCxnSpPr>
        <p:spPr>
          <a:xfrm flipV="1">
            <a:off x="4960364" y="1866231"/>
            <a:ext cx="496406" cy="129130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8636CE1-0506-CAFB-2555-3291A7890A9A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rot="16200000" flipH="1">
            <a:off x="6537474" y="2358508"/>
            <a:ext cx="465932" cy="22004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E02E298-3726-29FB-60B1-7C0E08E867D1}"/>
              </a:ext>
            </a:extLst>
          </p:cNvPr>
          <p:cNvSpPr txBox="1"/>
          <p:nvPr/>
        </p:nvSpPr>
        <p:spPr>
          <a:xfrm>
            <a:off x="6169989" y="3989301"/>
            <a:ext cx="217500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CalibrationIO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Exports </a:t>
            </a:r>
            <a:r>
              <a:rPr lang="en-US" sz="1200" dirty="0" err="1"/>
              <a:t>json</a:t>
            </a:r>
            <a:r>
              <a:rPr lang="en-US" sz="1200" dirty="0"/>
              <a:t> of calibrations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Exports </a:t>
            </a:r>
            <a:r>
              <a:rPr lang="en-US" sz="1200" dirty="0" err="1"/>
              <a:t>json</a:t>
            </a:r>
            <a:r>
              <a:rPr lang="en-US" sz="1200" dirty="0"/>
              <a:t> of spectra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Includes metadata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E7B478B-830C-943A-6CED-366706D1E612}"/>
              </a:ext>
            </a:extLst>
          </p:cNvPr>
          <p:cNvCxnSpPr>
            <a:cxnSpLocks/>
            <a:stCxn id="28" idx="2"/>
            <a:endCxn id="34" idx="0"/>
          </p:cNvCxnSpPr>
          <p:nvPr/>
        </p:nvCxnSpPr>
        <p:spPr>
          <a:xfrm rot="16200000" flipH="1">
            <a:off x="6794404" y="3526216"/>
            <a:ext cx="549142" cy="3770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35C6B56-2119-8DEA-9F3F-53C9E83FF491}"/>
              </a:ext>
            </a:extLst>
          </p:cNvPr>
          <p:cNvSpPr txBox="1"/>
          <p:nvPr/>
        </p:nvSpPr>
        <p:spPr>
          <a:xfrm>
            <a:off x="4960364" y="5456147"/>
            <a:ext cx="3717637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FileCalibration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Compiles calibrations in an order that allows calibrated parameters to depend on each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Runs “Calibrations” on Data in the “Data List” and exports them with the “Export Parameters” added.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5894A09-FA7D-86AE-07D2-8A7D6029B6A4}"/>
              </a:ext>
            </a:extLst>
          </p:cNvPr>
          <p:cNvCxnSpPr>
            <a:stCxn id="22" idx="3"/>
            <a:endCxn id="61" idx="1"/>
          </p:cNvCxnSpPr>
          <p:nvPr/>
        </p:nvCxnSpPr>
        <p:spPr>
          <a:xfrm flipV="1">
            <a:off x="3285409" y="6010145"/>
            <a:ext cx="1674955" cy="157150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2EF712E-CB4E-C853-0FC0-01DAED0EB5A0}"/>
              </a:ext>
            </a:extLst>
          </p:cNvPr>
          <p:cNvSpPr txBox="1"/>
          <p:nvPr/>
        </p:nvSpPr>
        <p:spPr>
          <a:xfrm>
            <a:off x="99795" y="1994498"/>
            <a:ext cx="20565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Filepaths</a:t>
            </a:r>
            <a:r>
              <a:rPr lang="en-US" dirty="0"/>
              <a:t> from GUI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4A7050E-EFC5-75B3-34A1-C8014303BC78}"/>
              </a:ext>
            </a:extLst>
          </p:cNvPr>
          <p:cNvCxnSpPr>
            <a:stCxn id="34" idx="2"/>
            <a:endCxn id="61" idx="0"/>
          </p:cNvCxnSpPr>
          <p:nvPr/>
        </p:nvCxnSpPr>
        <p:spPr>
          <a:xfrm rot="5400000">
            <a:off x="6766578" y="4965236"/>
            <a:ext cx="543516" cy="4383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157D24D-3106-F7B1-9A98-93F8B9880F60}"/>
              </a:ext>
            </a:extLst>
          </p:cNvPr>
          <p:cNvSpPr txBox="1"/>
          <p:nvPr/>
        </p:nvSpPr>
        <p:spPr>
          <a:xfrm>
            <a:off x="9481639" y="5271481"/>
            <a:ext cx="17426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Calibrated Data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0C05A706-83CF-AAD1-E001-7BBEE658721A}"/>
              </a:ext>
            </a:extLst>
          </p:cNvPr>
          <p:cNvCxnSpPr>
            <a:cxnSpLocks/>
            <a:stCxn id="61" idx="3"/>
            <a:endCxn id="78" idx="1"/>
          </p:cNvCxnSpPr>
          <p:nvPr/>
        </p:nvCxnSpPr>
        <p:spPr>
          <a:xfrm flipV="1">
            <a:off x="8678001" y="5456147"/>
            <a:ext cx="803638" cy="5539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512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E7302E-C7E8-0148-3727-5C8B16948B3E}"/>
              </a:ext>
            </a:extLst>
          </p:cNvPr>
          <p:cNvSpPr txBox="1">
            <a:spLocks/>
          </p:cNvSpPr>
          <p:nvPr/>
        </p:nvSpPr>
        <p:spPr>
          <a:xfrm>
            <a:off x="3298951" y="87965"/>
            <a:ext cx="5594097" cy="71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Calibrated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B9A1F-6F9F-4B90-D8C4-AB3C6880393C}"/>
              </a:ext>
            </a:extLst>
          </p:cNvPr>
          <p:cNvSpPr txBox="1"/>
          <p:nvPr/>
        </p:nvSpPr>
        <p:spPr>
          <a:xfrm>
            <a:off x="134508" y="771974"/>
            <a:ext cx="40682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Antibody Binding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Measure of Antibody Binding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Specific to a Fluorophore and Antibody combination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66B80-EE06-3134-A779-CBE8F76D7F42}"/>
              </a:ext>
            </a:extLst>
          </p:cNvPr>
          <p:cNvSpPr txBox="1"/>
          <p:nvPr/>
        </p:nvSpPr>
        <p:spPr>
          <a:xfrm>
            <a:off x="134508" y="3686629"/>
            <a:ext cx="43911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 Equivalent Soluble Fluorophore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Measure of fluorophore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Fluorophore specific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6EC82-0E2B-723B-CF6C-4299CA5462DD}"/>
              </a:ext>
            </a:extLst>
          </p:cNvPr>
          <p:cNvSpPr txBox="1"/>
          <p:nvPr/>
        </p:nvSpPr>
        <p:spPr>
          <a:xfrm>
            <a:off x="4371841" y="4371248"/>
            <a:ext cx="43911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Equivalent Reference Fluorophores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Measure of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Meant to be universal across fluorophores/antibodies</a:t>
            </a:r>
            <a:endParaRPr lang="en-US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C1773D7-7290-F81D-6B1C-D21ACE121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08" y="1492791"/>
            <a:ext cx="2853732" cy="2140299"/>
          </a:xfrm>
          <a:prstGeom prst="rect">
            <a:avLst/>
          </a:prstGeom>
        </p:spPr>
      </p:pic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8D1A7D4-E60F-D508-4F0F-44CA5414E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841" y="1751217"/>
            <a:ext cx="2853732" cy="2140299"/>
          </a:xfrm>
          <a:prstGeom prst="rect">
            <a:avLst/>
          </a:prstGeom>
        </p:spPr>
      </p:pic>
      <p:pic>
        <p:nvPicPr>
          <p:cNvPr id="12" name="Picture 1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3972F7C-7EF7-9849-CAE0-31ADF89EA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08" y="4425293"/>
            <a:ext cx="3009088" cy="22568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5E9BE3-0112-5A3C-1C65-3BD05739C0F6}"/>
              </a:ext>
            </a:extLst>
          </p:cNvPr>
          <p:cNvSpPr txBox="1"/>
          <p:nvPr/>
        </p:nvSpPr>
        <p:spPr>
          <a:xfrm>
            <a:off x="4371841" y="828781"/>
            <a:ext cx="4953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 (Fluorescent)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Estimates size using dye the stains proportionate to Surface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Depends on a lipid surface that dye can stain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Assumes that the particle has a fully lipid surface (not always true)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F9F35E-79C2-B16C-C8BD-00621C048A9E}"/>
              </a:ext>
            </a:extLst>
          </p:cNvPr>
          <p:cNvSpPr txBox="1"/>
          <p:nvPr/>
        </p:nvSpPr>
        <p:spPr>
          <a:xfrm>
            <a:off x="4371841" y="5456702"/>
            <a:ext cx="48028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 (Scatter)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Estimates size using Mie Theory to estimate size from scatter.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Assumes known refractive index (not same for every particle)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7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01E0-591D-ED7E-C658-56EFFE81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BBB5-0DFB-BEAA-6DBF-EDB127781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Autofluorescence: Finding dimmest blank peak</a:t>
            </a:r>
          </a:p>
          <a:p>
            <a:r>
              <a:rPr lang="en-US" dirty="0"/>
              <a:t>Synthetic Background Generation</a:t>
            </a:r>
          </a:p>
          <a:p>
            <a:r>
              <a:rPr lang="en-US" dirty="0"/>
              <a:t>Fluorophore Identification Logic</a:t>
            </a:r>
          </a:p>
          <a:p>
            <a:r>
              <a:rPr lang="en-US" dirty="0"/>
              <a:t>Sample Type Identification Logic</a:t>
            </a:r>
          </a:p>
          <a:p>
            <a:r>
              <a:rPr lang="en-US" dirty="0"/>
              <a:t>Planned: Antibody Identification, Expanded Instrument Settings Identification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28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A7AF-DA6C-78AF-66F9-3842FA78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765"/>
            <a:ext cx="10515600" cy="915035"/>
          </a:xfrm>
        </p:spPr>
        <p:txBody>
          <a:bodyPr/>
          <a:lstStyle/>
          <a:p>
            <a:r>
              <a:rPr lang="en-US" dirty="0"/>
              <a:t>Dimmest Blank – Missing Autofluorescence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1BB7A-B4EA-EFBD-67B1-C09531AB3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40" y="1066800"/>
            <a:ext cx="7868920" cy="5364480"/>
          </a:xfrm>
        </p:spPr>
        <p:txBody>
          <a:bodyPr/>
          <a:lstStyle/>
          <a:p>
            <a:r>
              <a:rPr lang="en-US" sz="2400" dirty="0"/>
              <a:t>Autofluorescence only beads improve unmixing in cases where non-specific binding is present.</a:t>
            </a:r>
          </a:p>
          <a:p>
            <a:r>
              <a:rPr lang="en-US" sz="2400" dirty="0"/>
              <a:t>Dimmest blank is used in cases where there is no Autofluorescence control</a:t>
            </a:r>
          </a:p>
          <a:p>
            <a:r>
              <a:rPr lang="en-US" sz="2400" dirty="0"/>
              <a:t>Integrated 10</a:t>
            </a:r>
            <a:r>
              <a:rPr lang="en-US" sz="2400" baseline="30000" dirty="0"/>
              <a:t>th</a:t>
            </a:r>
            <a:r>
              <a:rPr lang="en-US" sz="2400" dirty="0"/>
              <a:t> Percentile used to find the dimmest of the blank peaks of the stained beads</a:t>
            </a:r>
          </a:p>
          <a:p>
            <a:r>
              <a:rPr lang="en-US" sz="2400" dirty="0"/>
              <a:t>Less effective in high noise controls</a:t>
            </a:r>
          </a:p>
          <a:p>
            <a:r>
              <a:rPr lang="en-US" sz="2400" dirty="0"/>
              <a:t>Possible Ways to Improve:</a:t>
            </a:r>
          </a:p>
          <a:p>
            <a:pPr lvl="1"/>
            <a:r>
              <a:rPr lang="en-US" sz="2000" dirty="0"/>
              <a:t>Implement it on gated events where noise is reduced</a:t>
            </a:r>
          </a:p>
          <a:p>
            <a:pPr lvl="1"/>
            <a:r>
              <a:rPr lang="en-US" sz="2000" dirty="0"/>
              <a:t>Some way of identifying presence of a blank peak (spectra differences at different percentiles)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345392-158C-4001-19F5-1754C78D4951}"/>
              </a:ext>
            </a:extLst>
          </p:cNvPr>
          <p:cNvGrpSpPr/>
          <p:nvPr/>
        </p:nvGrpSpPr>
        <p:grpSpPr>
          <a:xfrm>
            <a:off x="8409298" y="1858864"/>
            <a:ext cx="3404661" cy="3932336"/>
            <a:chOff x="8409298" y="1858864"/>
            <a:chExt cx="3404661" cy="39323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D83B1F-03E2-4723-C5CE-E9E6BAAA6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8376" y="2657038"/>
              <a:ext cx="3105583" cy="313416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0348F6-3B41-9933-BD8F-5A31636BB17E}"/>
                </a:ext>
              </a:extLst>
            </p:cNvPr>
            <p:cNvSpPr txBox="1"/>
            <p:nvPr/>
          </p:nvSpPr>
          <p:spPr>
            <a:xfrm>
              <a:off x="8409298" y="3118952"/>
              <a:ext cx="1203960" cy="6463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Unstained Bead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6EAEEF-96A0-BD3A-D483-D61D42D1DB79}"/>
                </a:ext>
              </a:extLst>
            </p:cNvPr>
            <p:cNvSpPr txBox="1"/>
            <p:nvPr/>
          </p:nvSpPr>
          <p:spPr>
            <a:xfrm>
              <a:off x="9622357" y="2333872"/>
              <a:ext cx="1277620" cy="6463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99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9900"/>
                  </a:solidFill>
                </a:rPr>
                <a:t>Blank Peak of Stained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EF2C8E-36B2-BB15-8510-B04AAADA7391}"/>
                </a:ext>
              </a:extLst>
            </p:cNvPr>
            <p:cNvSpPr txBox="1"/>
            <p:nvPr/>
          </p:nvSpPr>
          <p:spPr>
            <a:xfrm>
              <a:off x="9024187" y="1858864"/>
              <a:ext cx="228473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Non-Specific Binding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8B74328-7C4E-24A2-165E-E3582F749F85}"/>
                </a:ext>
              </a:extLst>
            </p:cNvPr>
            <p:cNvSpPr/>
            <p:nvPr/>
          </p:nvSpPr>
          <p:spPr>
            <a:xfrm>
              <a:off x="9225280" y="3870960"/>
              <a:ext cx="775956" cy="1408917"/>
            </a:xfrm>
            <a:prstGeom prst="rect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5FAFD9-9084-B365-5575-4CCB64838B6A}"/>
                </a:ext>
              </a:extLst>
            </p:cNvPr>
            <p:cNvSpPr/>
            <p:nvPr/>
          </p:nvSpPr>
          <p:spPr>
            <a:xfrm>
              <a:off x="9784080" y="3048000"/>
              <a:ext cx="382472" cy="2164080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802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A9A509B-8677-3E11-E5A0-D3F4160D4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6" y="792251"/>
            <a:ext cx="7230483" cy="5273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7A19E-3B53-352B-9561-D90FD17D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405"/>
            <a:ext cx="10515600" cy="833755"/>
          </a:xfrm>
        </p:spPr>
        <p:txBody>
          <a:bodyPr/>
          <a:lstStyle/>
          <a:p>
            <a:r>
              <a:rPr lang="en-US" dirty="0"/>
              <a:t>Synthetic Background – Missing SSC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17E6-0DD7-E694-5DB0-FFEE9035E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96" y="944880"/>
            <a:ext cx="4548418" cy="5438666"/>
          </a:xfrm>
        </p:spPr>
        <p:txBody>
          <a:bodyPr>
            <a:normAutofit/>
          </a:bodyPr>
          <a:lstStyle/>
          <a:p>
            <a:r>
              <a:rPr lang="en-US" sz="2000" dirty="0"/>
              <a:t>Used when background control is missing</a:t>
            </a:r>
          </a:p>
          <a:p>
            <a:r>
              <a:rPr lang="en-US" sz="2000" dirty="0"/>
              <a:t>Helps extract autofluorescence spectra</a:t>
            </a:r>
          </a:p>
          <a:p>
            <a:r>
              <a:rPr lang="en-US" sz="2000" dirty="0"/>
              <a:t>Derived from input data and attuned to instrument</a:t>
            </a:r>
          </a:p>
          <a:p>
            <a:r>
              <a:rPr lang="en-US" sz="2000" dirty="0"/>
              <a:t>How it works: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Combine all input data into one artificial file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Separate events by each parameter and break into chunks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For each parameter take the minimum median/mean of each chunk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Recombine minimum chunks into a new file made from parameters from across the files</a:t>
            </a:r>
          </a:p>
          <a:p>
            <a:r>
              <a:rPr lang="en-US" sz="2000" dirty="0"/>
              <a:t>Works best with a variety of spectra in inputs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E5C7A06-DB2B-B8D7-5BA6-DAB472A79CDE}"/>
              </a:ext>
            </a:extLst>
          </p:cNvPr>
          <p:cNvGrpSpPr/>
          <p:nvPr/>
        </p:nvGrpSpPr>
        <p:grpSpPr>
          <a:xfrm>
            <a:off x="5027434" y="4441310"/>
            <a:ext cx="6884300" cy="1612124"/>
            <a:chOff x="5046453" y="4438480"/>
            <a:chExt cx="6884300" cy="161212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1B3FDBF-A5FA-9DBE-439D-1AB423A71CAA}"/>
                </a:ext>
              </a:extLst>
            </p:cNvPr>
            <p:cNvGrpSpPr/>
            <p:nvPr/>
          </p:nvGrpSpPr>
          <p:grpSpPr>
            <a:xfrm>
              <a:off x="5417389" y="4438480"/>
              <a:ext cx="6513364" cy="862641"/>
              <a:chOff x="5417389" y="4770408"/>
              <a:chExt cx="6357668" cy="862641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7DEED54-CF0B-63EC-9409-6F31EA2E1083}"/>
                  </a:ext>
                </a:extLst>
              </p:cNvPr>
              <p:cNvSpPr/>
              <p:nvPr/>
            </p:nvSpPr>
            <p:spPr>
              <a:xfrm>
                <a:off x="10127411" y="4770408"/>
                <a:ext cx="1647646" cy="776377"/>
              </a:xfrm>
              <a:custGeom>
                <a:avLst/>
                <a:gdLst>
                  <a:gd name="csX0" fmla="*/ 1647646 w 1647646"/>
                  <a:gd name="csY0" fmla="*/ 0 h 776377"/>
                  <a:gd name="csX1" fmla="*/ 1639019 w 1647646"/>
                  <a:gd name="csY1" fmla="*/ 189781 h 776377"/>
                  <a:gd name="csX2" fmla="*/ 1630393 w 1647646"/>
                  <a:gd name="csY2" fmla="*/ 250166 h 776377"/>
                  <a:gd name="csX3" fmla="*/ 1621766 w 1647646"/>
                  <a:gd name="csY3" fmla="*/ 319177 h 776377"/>
                  <a:gd name="csX4" fmla="*/ 1604514 w 1647646"/>
                  <a:gd name="csY4" fmla="*/ 448573 h 776377"/>
                  <a:gd name="csX5" fmla="*/ 1578634 w 1647646"/>
                  <a:gd name="csY5" fmla="*/ 491705 h 776377"/>
                  <a:gd name="csX6" fmla="*/ 1570008 w 1647646"/>
                  <a:gd name="csY6" fmla="*/ 552090 h 776377"/>
                  <a:gd name="csX7" fmla="*/ 1561381 w 1647646"/>
                  <a:gd name="csY7" fmla="*/ 577969 h 776377"/>
                  <a:gd name="csX8" fmla="*/ 1544129 w 1647646"/>
                  <a:gd name="csY8" fmla="*/ 612475 h 776377"/>
                  <a:gd name="csX9" fmla="*/ 1457864 w 1647646"/>
                  <a:gd name="csY9" fmla="*/ 690113 h 776377"/>
                  <a:gd name="csX10" fmla="*/ 1440612 w 1647646"/>
                  <a:gd name="csY10" fmla="*/ 715992 h 776377"/>
                  <a:gd name="csX11" fmla="*/ 1388853 w 1647646"/>
                  <a:gd name="csY11" fmla="*/ 733245 h 776377"/>
                  <a:gd name="csX12" fmla="*/ 1112808 w 1647646"/>
                  <a:gd name="csY12" fmla="*/ 750498 h 776377"/>
                  <a:gd name="csX13" fmla="*/ 1061049 w 1647646"/>
                  <a:gd name="csY13" fmla="*/ 759124 h 776377"/>
                  <a:gd name="csX14" fmla="*/ 1035170 w 1647646"/>
                  <a:gd name="csY14" fmla="*/ 767750 h 776377"/>
                  <a:gd name="csX15" fmla="*/ 992038 w 1647646"/>
                  <a:gd name="csY15" fmla="*/ 776377 h 776377"/>
                  <a:gd name="csX16" fmla="*/ 897147 w 1647646"/>
                  <a:gd name="csY16" fmla="*/ 750498 h 776377"/>
                  <a:gd name="csX17" fmla="*/ 828136 w 1647646"/>
                  <a:gd name="csY17" fmla="*/ 767750 h 776377"/>
                  <a:gd name="csX18" fmla="*/ 690114 w 1647646"/>
                  <a:gd name="csY18" fmla="*/ 733245 h 776377"/>
                  <a:gd name="csX19" fmla="*/ 638355 w 1647646"/>
                  <a:gd name="csY19" fmla="*/ 690113 h 776377"/>
                  <a:gd name="csX20" fmla="*/ 560717 w 1647646"/>
                  <a:gd name="csY20" fmla="*/ 638354 h 776377"/>
                  <a:gd name="csX21" fmla="*/ 543464 w 1647646"/>
                  <a:gd name="csY21" fmla="*/ 543464 h 776377"/>
                  <a:gd name="csX22" fmla="*/ 526212 w 1647646"/>
                  <a:gd name="csY22" fmla="*/ 379562 h 776377"/>
                  <a:gd name="csX23" fmla="*/ 517585 w 1647646"/>
                  <a:gd name="csY23" fmla="*/ 353683 h 776377"/>
                  <a:gd name="csX24" fmla="*/ 457200 w 1647646"/>
                  <a:gd name="csY24" fmla="*/ 379562 h 776377"/>
                  <a:gd name="csX25" fmla="*/ 439947 w 1647646"/>
                  <a:gd name="csY25" fmla="*/ 405441 h 776377"/>
                  <a:gd name="csX26" fmla="*/ 414068 w 1647646"/>
                  <a:gd name="csY26" fmla="*/ 439947 h 776377"/>
                  <a:gd name="csX27" fmla="*/ 405442 w 1647646"/>
                  <a:gd name="csY27" fmla="*/ 474452 h 776377"/>
                  <a:gd name="csX28" fmla="*/ 353683 w 1647646"/>
                  <a:gd name="csY28" fmla="*/ 526211 h 776377"/>
                  <a:gd name="csX29" fmla="*/ 319178 w 1647646"/>
                  <a:gd name="csY29" fmla="*/ 577969 h 776377"/>
                  <a:gd name="csX30" fmla="*/ 293298 w 1647646"/>
                  <a:gd name="csY30" fmla="*/ 612475 h 776377"/>
                  <a:gd name="csX31" fmla="*/ 250166 w 1647646"/>
                  <a:gd name="csY31" fmla="*/ 672860 h 776377"/>
                  <a:gd name="csX32" fmla="*/ 241540 w 1647646"/>
                  <a:gd name="csY32" fmla="*/ 698739 h 776377"/>
                  <a:gd name="csX33" fmla="*/ 181155 w 1647646"/>
                  <a:gd name="csY33" fmla="*/ 759124 h 776377"/>
                  <a:gd name="csX34" fmla="*/ 0 w 1647646"/>
                  <a:gd name="csY34" fmla="*/ 759124 h 7763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1647646" h="776377">
                    <a:moveTo>
                      <a:pt x="1647646" y="0"/>
                    </a:moveTo>
                    <a:cubicBezTo>
                      <a:pt x="1644770" y="63260"/>
                      <a:pt x="1643376" y="126605"/>
                      <a:pt x="1639019" y="189781"/>
                    </a:cubicBezTo>
                    <a:cubicBezTo>
                      <a:pt x="1637620" y="210065"/>
                      <a:pt x="1633080" y="230012"/>
                      <a:pt x="1630393" y="250166"/>
                    </a:cubicBezTo>
                    <a:cubicBezTo>
                      <a:pt x="1627329" y="273145"/>
                      <a:pt x="1624073" y="296109"/>
                      <a:pt x="1621766" y="319177"/>
                    </a:cubicBezTo>
                    <a:cubicBezTo>
                      <a:pt x="1619358" y="343258"/>
                      <a:pt x="1622258" y="413086"/>
                      <a:pt x="1604514" y="448573"/>
                    </a:cubicBezTo>
                    <a:cubicBezTo>
                      <a:pt x="1597016" y="463570"/>
                      <a:pt x="1587261" y="477328"/>
                      <a:pt x="1578634" y="491705"/>
                    </a:cubicBezTo>
                    <a:cubicBezTo>
                      <a:pt x="1575759" y="511833"/>
                      <a:pt x="1573996" y="532152"/>
                      <a:pt x="1570008" y="552090"/>
                    </a:cubicBezTo>
                    <a:cubicBezTo>
                      <a:pt x="1568225" y="561006"/>
                      <a:pt x="1564963" y="569611"/>
                      <a:pt x="1561381" y="577969"/>
                    </a:cubicBezTo>
                    <a:cubicBezTo>
                      <a:pt x="1556315" y="589789"/>
                      <a:pt x="1552272" y="602522"/>
                      <a:pt x="1544129" y="612475"/>
                    </a:cubicBezTo>
                    <a:cubicBezTo>
                      <a:pt x="1503500" y="662133"/>
                      <a:pt x="1497563" y="663647"/>
                      <a:pt x="1457864" y="690113"/>
                    </a:cubicBezTo>
                    <a:cubicBezTo>
                      <a:pt x="1452113" y="698739"/>
                      <a:pt x="1449404" y="710497"/>
                      <a:pt x="1440612" y="715992"/>
                    </a:cubicBezTo>
                    <a:cubicBezTo>
                      <a:pt x="1425190" y="725631"/>
                      <a:pt x="1406496" y="728834"/>
                      <a:pt x="1388853" y="733245"/>
                    </a:cubicBezTo>
                    <a:cubicBezTo>
                      <a:pt x="1276188" y="761410"/>
                      <a:pt x="1366195" y="741448"/>
                      <a:pt x="1112808" y="750498"/>
                    </a:cubicBezTo>
                    <a:cubicBezTo>
                      <a:pt x="1095555" y="753373"/>
                      <a:pt x="1078123" y="755330"/>
                      <a:pt x="1061049" y="759124"/>
                    </a:cubicBezTo>
                    <a:cubicBezTo>
                      <a:pt x="1052173" y="761096"/>
                      <a:pt x="1043991" y="765545"/>
                      <a:pt x="1035170" y="767750"/>
                    </a:cubicBezTo>
                    <a:cubicBezTo>
                      <a:pt x="1020946" y="771306"/>
                      <a:pt x="1006415" y="773501"/>
                      <a:pt x="992038" y="776377"/>
                    </a:cubicBezTo>
                    <a:cubicBezTo>
                      <a:pt x="977408" y="771500"/>
                      <a:pt x="916964" y="748974"/>
                      <a:pt x="897147" y="750498"/>
                    </a:cubicBezTo>
                    <a:cubicBezTo>
                      <a:pt x="873505" y="752316"/>
                      <a:pt x="851140" y="761999"/>
                      <a:pt x="828136" y="767750"/>
                    </a:cubicBezTo>
                    <a:cubicBezTo>
                      <a:pt x="755409" y="758660"/>
                      <a:pt x="758935" y="764527"/>
                      <a:pt x="690114" y="733245"/>
                    </a:cubicBezTo>
                    <a:cubicBezTo>
                      <a:pt x="656068" y="717770"/>
                      <a:pt x="669229" y="713269"/>
                      <a:pt x="638355" y="690113"/>
                    </a:cubicBezTo>
                    <a:cubicBezTo>
                      <a:pt x="613473" y="671451"/>
                      <a:pt x="560717" y="638354"/>
                      <a:pt x="560717" y="638354"/>
                    </a:cubicBezTo>
                    <a:cubicBezTo>
                      <a:pt x="554966" y="606724"/>
                      <a:pt x="547452" y="575364"/>
                      <a:pt x="543464" y="543464"/>
                    </a:cubicBezTo>
                    <a:cubicBezTo>
                      <a:pt x="532845" y="458511"/>
                      <a:pt x="541305" y="447481"/>
                      <a:pt x="526212" y="379562"/>
                    </a:cubicBezTo>
                    <a:cubicBezTo>
                      <a:pt x="524239" y="370686"/>
                      <a:pt x="520461" y="362309"/>
                      <a:pt x="517585" y="353683"/>
                    </a:cubicBezTo>
                    <a:cubicBezTo>
                      <a:pt x="497457" y="362309"/>
                      <a:pt x="475421" y="367415"/>
                      <a:pt x="457200" y="379562"/>
                    </a:cubicBezTo>
                    <a:cubicBezTo>
                      <a:pt x="448574" y="385313"/>
                      <a:pt x="445973" y="397005"/>
                      <a:pt x="439947" y="405441"/>
                    </a:cubicBezTo>
                    <a:cubicBezTo>
                      <a:pt x="431590" y="417140"/>
                      <a:pt x="422694" y="428445"/>
                      <a:pt x="414068" y="439947"/>
                    </a:cubicBezTo>
                    <a:cubicBezTo>
                      <a:pt x="411193" y="451449"/>
                      <a:pt x="410112" y="463555"/>
                      <a:pt x="405442" y="474452"/>
                    </a:cubicBezTo>
                    <a:cubicBezTo>
                      <a:pt x="393491" y="502337"/>
                      <a:pt x="378071" y="507920"/>
                      <a:pt x="353683" y="526211"/>
                    </a:cubicBezTo>
                    <a:cubicBezTo>
                      <a:pt x="342181" y="543464"/>
                      <a:pt x="331069" y="560982"/>
                      <a:pt x="319178" y="577969"/>
                    </a:cubicBezTo>
                    <a:cubicBezTo>
                      <a:pt x="310933" y="589748"/>
                      <a:pt x="300431" y="599992"/>
                      <a:pt x="293298" y="612475"/>
                    </a:cubicBezTo>
                    <a:cubicBezTo>
                      <a:pt x="256576" y="676738"/>
                      <a:pt x="332161" y="590865"/>
                      <a:pt x="250166" y="672860"/>
                    </a:cubicBezTo>
                    <a:cubicBezTo>
                      <a:pt x="247291" y="681486"/>
                      <a:pt x="245956" y="690790"/>
                      <a:pt x="241540" y="698739"/>
                    </a:cubicBezTo>
                    <a:cubicBezTo>
                      <a:pt x="225968" y="726769"/>
                      <a:pt x="216191" y="757664"/>
                      <a:pt x="181155" y="759124"/>
                    </a:cubicBezTo>
                    <a:cubicBezTo>
                      <a:pt x="120822" y="761638"/>
                      <a:pt x="60385" y="759124"/>
                      <a:pt x="0" y="759124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2BD6811-B3F5-8C03-2D47-0B0964352D26}"/>
                  </a:ext>
                </a:extLst>
              </p:cNvPr>
              <p:cNvSpPr/>
              <p:nvPr/>
            </p:nvSpPr>
            <p:spPr>
              <a:xfrm>
                <a:off x="5417389" y="5218065"/>
                <a:ext cx="3131388" cy="414984"/>
              </a:xfrm>
              <a:custGeom>
                <a:avLst/>
                <a:gdLst>
                  <a:gd name="csX0" fmla="*/ 0 w 3131388"/>
                  <a:gd name="csY0" fmla="*/ 414984 h 414984"/>
                  <a:gd name="csX1" fmla="*/ 43132 w 3131388"/>
                  <a:gd name="csY1" fmla="*/ 363226 h 414984"/>
                  <a:gd name="csX2" fmla="*/ 69011 w 3131388"/>
                  <a:gd name="csY2" fmla="*/ 320093 h 414984"/>
                  <a:gd name="csX3" fmla="*/ 86264 w 3131388"/>
                  <a:gd name="csY3" fmla="*/ 294214 h 414984"/>
                  <a:gd name="csX4" fmla="*/ 112143 w 3131388"/>
                  <a:gd name="csY4" fmla="*/ 276961 h 414984"/>
                  <a:gd name="csX5" fmla="*/ 198407 w 3131388"/>
                  <a:gd name="csY5" fmla="*/ 328720 h 414984"/>
                  <a:gd name="csX6" fmla="*/ 215660 w 3131388"/>
                  <a:gd name="csY6" fmla="*/ 354599 h 414984"/>
                  <a:gd name="csX7" fmla="*/ 310551 w 3131388"/>
                  <a:gd name="csY7" fmla="*/ 380478 h 414984"/>
                  <a:gd name="csX8" fmla="*/ 500332 w 3131388"/>
                  <a:gd name="csY8" fmla="*/ 363226 h 414984"/>
                  <a:gd name="csX9" fmla="*/ 603849 w 3131388"/>
                  <a:gd name="csY9" fmla="*/ 285588 h 414984"/>
                  <a:gd name="csX10" fmla="*/ 646981 w 3131388"/>
                  <a:gd name="csY10" fmla="*/ 207950 h 414984"/>
                  <a:gd name="csX11" fmla="*/ 672860 w 3131388"/>
                  <a:gd name="csY11" fmla="*/ 182071 h 414984"/>
                  <a:gd name="csX12" fmla="*/ 698739 w 3131388"/>
                  <a:gd name="csY12" fmla="*/ 173444 h 414984"/>
                  <a:gd name="csX13" fmla="*/ 724619 w 3131388"/>
                  <a:gd name="csY13" fmla="*/ 156192 h 414984"/>
                  <a:gd name="csX14" fmla="*/ 750498 w 3131388"/>
                  <a:gd name="csY14" fmla="*/ 147565 h 414984"/>
                  <a:gd name="csX15" fmla="*/ 785003 w 3131388"/>
                  <a:gd name="csY15" fmla="*/ 130312 h 414984"/>
                  <a:gd name="csX16" fmla="*/ 836762 w 3131388"/>
                  <a:gd name="csY16" fmla="*/ 113060 h 414984"/>
                  <a:gd name="csX17" fmla="*/ 905773 w 3131388"/>
                  <a:gd name="csY17" fmla="*/ 164818 h 414984"/>
                  <a:gd name="csX18" fmla="*/ 914400 w 3131388"/>
                  <a:gd name="csY18" fmla="*/ 199324 h 414984"/>
                  <a:gd name="csX19" fmla="*/ 957532 w 3131388"/>
                  <a:gd name="csY19" fmla="*/ 268335 h 414984"/>
                  <a:gd name="csX20" fmla="*/ 974785 w 3131388"/>
                  <a:gd name="csY20" fmla="*/ 294214 h 414984"/>
                  <a:gd name="csX21" fmla="*/ 1017917 w 3131388"/>
                  <a:gd name="csY21" fmla="*/ 311467 h 414984"/>
                  <a:gd name="csX22" fmla="*/ 1069675 w 3131388"/>
                  <a:gd name="csY22" fmla="*/ 268335 h 414984"/>
                  <a:gd name="csX23" fmla="*/ 1095554 w 3131388"/>
                  <a:gd name="csY23" fmla="*/ 259709 h 414984"/>
                  <a:gd name="csX24" fmla="*/ 1121434 w 3131388"/>
                  <a:gd name="csY24" fmla="*/ 294214 h 414984"/>
                  <a:gd name="csX25" fmla="*/ 1130060 w 3131388"/>
                  <a:gd name="csY25" fmla="*/ 320093 h 414984"/>
                  <a:gd name="csX26" fmla="*/ 1181819 w 3131388"/>
                  <a:gd name="csY26" fmla="*/ 363226 h 414984"/>
                  <a:gd name="csX27" fmla="*/ 1302588 w 3131388"/>
                  <a:gd name="csY27" fmla="*/ 371852 h 414984"/>
                  <a:gd name="csX28" fmla="*/ 1337094 w 3131388"/>
                  <a:gd name="csY28" fmla="*/ 389105 h 414984"/>
                  <a:gd name="csX29" fmla="*/ 1431985 w 3131388"/>
                  <a:gd name="csY29" fmla="*/ 363226 h 414984"/>
                  <a:gd name="csX30" fmla="*/ 1449237 w 3131388"/>
                  <a:gd name="csY30" fmla="*/ 337346 h 414984"/>
                  <a:gd name="csX31" fmla="*/ 1630392 w 3131388"/>
                  <a:gd name="csY31" fmla="*/ 311467 h 414984"/>
                  <a:gd name="csX32" fmla="*/ 1751162 w 3131388"/>
                  <a:gd name="csY32" fmla="*/ 294214 h 414984"/>
                  <a:gd name="csX33" fmla="*/ 1785668 w 3131388"/>
                  <a:gd name="csY33" fmla="*/ 285588 h 414984"/>
                  <a:gd name="csX34" fmla="*/ 1811547 w 3131388"/>
                  <a:gd name="csY34" fmla="*/ 259709 h 414984"/>
                  <a:gd name="csX35" fmla="*/ 1820173 w 3131388"/>
                  <a:gd name="csY35" fmla="*/ 233829 h 414984"/>
                  <a:gd name="csX36" fmla="*/ 1871932 w 3131388"/>
                  <a:gd name="csY36" fmla="*/ 199324 h 414984"/>
                  <a:gd name="csX37" fmla="*/ 1880558 w 3131388"/>
                  <a:gd name="csY37" fmla="*/ 121686 h 414984"/>
                  <a:gd name="csX38" fmla="*/ 1889185 w 3131388"/>
                  <a:gd name="csY38" fmla="*/ 87180 h 414984"/>
                  <a:gd name="csX39" fmla="*/ 1923690 w 3131388"/>
                  <a:gd name="csY39" fmla="*/ 95807 h 414984"/>
                  <a:gd name="csX40" fmla="*/ 1932317 w 3131388"/>
                  <a:gd name="csY40" fmla="*/ 138939 h 414984"/>
                  <a:gd name="csX41" fmla="*/ 1949569 w 3131388"/>
                  <a:gd name="csY41" fmla="*/ 164818 h 414984"/>
                  <a:gd name="csX42" fmla="*/ 1958196 w 3131388"/>
                  <a:gd name="csY42" fmla="*/ 207950 h 414984"/>
                  <a:gd name="csX43" fmla="*/ 1984075 w 3131388"/>
                  <a:gd name="csY43" fmla="*/ 225203 h 414984"/>
                  <a:gd name="csX44" fmla="*/ 2070339 w 3131388"/>
                  <a:gd name="csY44" fmla="*/ 251082 h 414984"/>
                  <a:gd name="csX45" fmla="*/ 2147977 w 3131388"/>
                  <a:gd name="csY45" fmla="*/ 242456 h 414984"/>
                  <a:gd name="csX46" fmla="*/ 2156603 w 3131388"/>
                  <a:gd name="csY46" fmla="*/ 207950 h 414984"/>
                  <a:gd name="csX47" fmla="*/ 2182483 w 3131388"/>
                  <a:gd name="csY47" fmla="*/ 173444 h 414984"/>
                  <a:gd name="csX48" fmla="*/ 2199736 w 3131388"/>
                  <a:gd name="csY48" fmla="*/ 147565 h 414984"/>
                  <a:gd name="csX49" fmla="*/ 2225615 w 3131388"/>
                  <a:gd name="csY49" fmla="*/ 95807 h 414984"/>
                  <a:gd name="csX50" fmla="*/ 2277373 w 3131388"/>
                  <a:gd name="csY50" fmla="*/ 26795 h 414984"/>
                  <a:gd name="csX51" fmla="*/ 2303253 w 3131388"/>
                  <a:gd name="csY51" fmla="*/ 18169 h 414984"/>
                  <a:gd name="csX52" fmla="*/ 2329132 w 3131388"/>
                  <a:gd name="csY52" fmla="*/ 916 h 414984"/>
                  <a:gd name="csX53" fmla="*/ 2406769 w 3131388"/>
                  <a:gd name="csY53" fmla="*/ 26795 h 414984"/>
                  <a:gd name="csX54" fmla="*/ 2493034 w 3131388"/>
                  <a:gd name="csY54" fmla="*/ 18169 h 414984"/>
                  <a:gd name="csX55" fmla="*/ 2518913 w 3131388"/>
                  <a:gd name="csY55" fmla="*/ 916 h 414984"/>
                  <a:gd name="csX56" fmla="*/ 2536166 w 3131388"/>
                  <a:gd name="csY56" fmla="*/ 35422 h 414984"/>
                  <a:gd name="csX57" fmla="*/ 2562045 w 3131388"/>
                  <a:gd name="csY57" fmla="*/ 104433 h 414984"/>
                  <a:gd name="csX58" fmla="*/ 2596551 w 3131388"/>
                  <a:gd name="csY58" fmla="*/ 130312 h 414984"/>
                  <a:gd name="csX59" fmla="*/ 2691441 w 3131388"/>
                  <a:gd name="csY59" fmla="*/ 182071 h 414984"/>
                  <a:gd name="csX60" fmla="*/ 2725947 w 3131388"/>
                  <a:gd name="csY60" fmla="*/ 190697 h 414984"/>
                  <a:gd name="csX61" fmla="*/ 2777705 w 3131388"/>
                  <a:gd name="csY61" fmla="*/ 207950 h 414984"/>
                  <a:gd name="csX62" fmla="*/ 2803585 w 3131388"/>
                  <a:gd name="csY62" fmla="*/ 233829 h 414984"/>
                  <a:gd name="csX63" fmla="*/ 2976113 w 3131388"/>
                  <a:gd name="csY63" fmla="*/ 242456 h 414984"/>
                  <a:gd name="csX64" fmla="*/ 3001992 w 3131388"/>
                  <a:gd name="csY64" fmla="*/ 251082 h 414984"/>
                  <a:gd name="csX65" fmla="*/ 3027871 w 3131388"/>
                  <a:gd name="csY65" fmla="*/ 268335 h 414984"/>
                  <a:gd name="csX66" fmla="*/ 3122762 w 3131388"/>
                  <a:gd name="csY66" fmla="*/ 294214 h 414984"/>
                  <a:gd name="csX67" fmla="*/ 3131388 w 3131388"/>
                  <a:gd name="csY67" fmla="*/ 294214 h 4149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</a:cxnLst>
                <a:rect l="l" t="t" r="r" b="b"/>
                <a:pathLst>
                  <a:path w="3131388" h="414984">
                    <a:moveTo>
                      <a:pt x="0" y="414984"/>
                    </a:moveTo>
                    <a:cubicBezTo>
                      <a:pt x="14377" y="397731"/>
                      <a:pt x="29923" y="381389"/>
                      <a:pt x="43132" y="363226"/>
                    </a:cubicBezTo>
                    <a:cubicBezTo>
                      <a:pt x="52994" y="349666"/>
                      <a:pt x="60125" y="334311"/>
                      <a:pt x="69011" y="320093"/>
                    </a:cubicBezTo>
                    <a:cubicBezTo>
                      <a:pt x="74506" y="311301"/>
                      <a:pt x="78933" y="301545"/>
                      <a:pt x="86264" y="294214"/>
                    </a:cubicBezTo>
                    <a:cubicBezTo>
                      <a:pt x="93595" y="286883"/>
                      <a:pt x="103517" y="282712"/>
                      <a:pt x="112143" y="276961"/>
                    </a:cubicBezTo>
                    <a:cubicBezTo>
                      <a:pt x="143677" y="292728"/>
                      <a:pt x="170646" y="304429"/>
                      <a:pt x="198407" y="328720"/>
                    </a:cubicBezTo>
                    <a:cubicBezTo>
                      <a:pt x="206209" y="335547"/>
                      <a:pt x="207695" y="347962"/>
                      <a:pt x="215660" y="354599"/>
                    </a:cubicBezTo>
                    <a:cubicBezTo>
                      <a:pt x="242915" y="377311"/>
                      <a:pt x="277655" y="375779"/>
                      <a:pt x="310551" y="380478"/>
                    </a:cubicBezTo>
                    <a:cubicBezTo>
                      <a:pt x="373811" y="374727"/>
                      <a:pt x="438826" y="379099"/>
                      <a:pt x="500332" y="363226"/>
                    </a:cubicBezTo>
                    <a:cubicBezTo>
                      <a:pt x="539769" y="353049"/>
                      <a:pt x="574941" y="314495"/>
                      <a:pt x="603849" y="285588"/>
                    </a:cubicBezTo>
                    <a:cubicBezTo>
                      <a:pt x="621706" y="240945"/>
                      <a:pt x="616208" y="243852"/>
                      <a:pt x="646981" y="207950"/>
                    </a:cubicBezTo>
                    <a:cubicBezTo>
                      <a:pt x="654920" y="198687"/>
                      <a:pt x="662709" y="188838"/>
                      <a:pt x="672860" y="182071"/>
                    </a:cubicBezTo>
                    <a:cubicBezTo>
                      <a:pt x="680426" y="177027"/>
                      <a:pt x="690606" y="177510"/>
                      <a:pt x="698739" y="173444"/>
                    </a:cubicBezTo>
                    <a:cubicBezTo>
                      <a:pt x="708012" y="168807"/>
                      <a:pt x="715346" y="160829"/>
                      <a:pt x="724619" y="156192"/>
                    </a:cubicBezTo>
                    <a:cubicBezTo>
                      <a:pt x="732752" y="152126"/>
                      <a:pt x="742140" y="151147"/>
                      <a:pt x="750498" y="147565"/>
                    </a:cubicBezTo>
                    <a:cubicBezTo>
                      <a:pt x="762318" y="142499"/>
                      <a:pt x="773063" y="135088"/>
                      <a:pt x="785003" y="130312"/>
                    </a:cubicBezTo>
                    <a:cubicBezTo>
                      <a:pt x="801888" y="123558"/>
                      <a:pt x="836762" y="113060"/>
                      <a:pt x="836762" y="113060"/>
                    </a:cubicBezTo>
                    <a:cubicBezTo>
                      <a:pt x="872431" y="124949"/>
                      <a:pt x="877452" y="122336"/>
                      <a:pt x="905773" y="164818"/>
                    </a:cubicBezTo>
                    <a:cubicBezTo>
                      <a:pt x="912350" y="174683"/>
                      <a:pt x="910237" y="188223"/>
                      <a:pt x="914400" y="199324"/>
                    </a:cubicBezTo>
                    <a:cubicBezTo>
                      <a:pt x="927199" y="233453"/>
                      <a:pt x="936106" y="238339"/>
                      <a:pt x="957532" y="268335"/>
                    </a:cubicBezTo>
                    <a:cubicBezTo>
                      <a:pt x="963558" y="276771"/>
                      <a:pt x="966349" y="288188"/>
                      <a:pt x="974785" y="294214"/>
                    </a:cubicBezTo>
                    <a:cubicBezTo>
                      <a:pt x="987386" y="303214"/>
                      <a:pt x="1003540" y="305716"/>
                      <a:pt x="1017917" y="311467"/>
                    </a:cubicBezTo>
                    <a:cubicBezTo>
                      <a:pt x="1077253" y="291689"/>
                      <a:pt x="1007006" y="320560"/>
                      <a:pt x="1069675" y="268335"/>
                    </a:cubicBezTo>
                    <a:cubicBezTo>
                      <a:pt x="1076660" y="262514"/>
                      <a:pt x="1086928" y="262584"/>
                      <a:pt x="1095554" y="259709"/>
                    </a:cubicBezTo>
                    <a:cubicBezTo>
                      <a:pt x="1104181" y="271211"/>
                      <a:pt x="1114301" y="281731"/>
                      <a:pt x="1121434" y="294214"/>
                    </a:cubicBezTo>
                    <a:cubicBezTo>
                      <a:pt x="1125945" y="302109"/>
                      <a:pt x="1125994" y="311960"/>
                      <a:pt x="1130060" y="320093"/>
                    </a:cubicBezTo>
                    <a:cubicBezTo>
                      <a:pt x="1141378" y="342729"/>
                      <a:pt x="1154249" y="358631"/>
                      <a:pt x="1181819" y="363226"/>
                    </a:cubicBezTo>
                    <a:cubicBezTo>
                      <a:pt x="1221629" y="369861"/>
                      <a:pt x="1262332" y="368977"/>
                      <a:pt x="1302588" y="371852"/>
                    </a:cubicBezTo>
                    <a:cubicBezTo>
                      <a:pt x="1314090" y="377603"/>
                      <a:pt x="1324234" y="389105"/>
                      <a:pt x="1337094" y="389105"/>
                    </a:cubicBezTo>
                    <a:cubicBezTo>
                      <a:pt x="1356547" y="389105"/>
                      <a:pt x="1405998" y="371888"/>
                      <a:pt x="1431985" y="363226"/>
                    </a:cubicBezTo>
                    <a:cubicBezTo>
                      <a:pt x="1437736" y="354599"/>
                      <a:pt x="1439205" y="339963"/>
                      <a:pt x="1449237" y="337346"/>
                    </a:cubicBezTo>
                    <a:cubicBezTo>
                      <a:pt x="1508260" y="321949"/>
                      <a:pt x="1630392" y="311467"/>
                      <a:pt x="1630392" y="311467"/>
                    </a:cubicBezTo>
                    <a:cubicBezTo>
                      <a:pt x="1692714" y="290694"/>
                      <a:pt x="1625167" y="311013"/>
                      <a:pt x="1751162" y="294214"/>
                    </a:cubicBezTo>
                    <a:cubicBezTo>
                      <a:pt x="1762914" y="292647"/>
                      <a:pt x="1774166" y="288463"/>
                      <a:pt x="1785668" y="285588"/>
                    </a:cubicBezTo>
                    <a:cubicBezTo>
                      <a:pt x="1794294" y="276962"/>
                      <a:pt x="1804780" y="269860"/>
                      <a:pt x="1811547" y="259709"/>
                    </a:cubicBezTo>
                    <a:cubicBezTo>
                      <a:pt x="1816591" y="252143"/>
                      <a:pt x="1813743" y="240259"/>
                      <a:pt x="1820173" y="233829"/>
                    </a:cubicBezTo>
                    <a:cubicBezTo>
                      <a:pt x="1834835" y="219167"/>
                      <a:pt x="1871932" y="199324"/>
                      <a:pt x="1871932" y="199324"/>
                    </a:cubicBezTo>
                    <a:cubicBezTo>
                      <a:pt x="1874807" y="173445"/>
                      <a:pt x="1876599" y="147422"/>
                      <a:pt x="1880558" y="121686"/>
                    </a:cubicBezTo>
                    <a:cubicBezTo>
                      <a:pt x="1882361" y="109968"/>
                      <a:pt x="1879019" y="93280"/>
                      <a:pt x="1889185" y="87180"/>
                    </a:cubicBezTo>
                    <a:cubicBezTo>
                      <a:pt x="1899351" y="81080"/>
                      <a:pt x="1912188" y="92931"/>
                      <a:pt x="1923690" y="95807"/>
                    </a:cubicBezTo>
                    <a:cubicBezTo>
                      <a:pt x="1926566" y="110184"/>
                      <a:pt x="1927169" y="125210"/>
                      <a:pt x="1932317" y="138939"/>
                    </a:cubicBezTo>
                    <a:cubicBezTo>
                      <a:pt x="1935957" y="148646"/>
                      <a:pt x="1945929" y="155111"/>
                      <a:pt x="1949569" y="164818"/>
                    </a:cubicBezTo>
                    <a:cubicBezTo>
                      <a:pt x="1954717" y="178547"/>
                      <a:pt x="1950922" y="195220"/>
                      <a:pt x="1958196" y="207950"/>
                    </a:cubicBezTo>
                    <a:cubicBezTo>
                      <a:pt x="1963340" y="216952"/>
                      <a:pt x="1974802" y="220566"/>
                      <a:pt x="1984075" y="225203"/>
                    </a:cubicBezTo>
                    <a:cubicBezTo>
                      <a:pt x="2021906" y="244119"/>
                      <a:pt x="2029932" y="243001"/>
                      <a:pt x="2070339" y="251082"/>
                    </a:cubicBezTo>
                    <a:cubicBezTo>
                      <a:pt x="2096218" y="248207"/>
                      <a:pt x="2124687" y="254101"/>
                      <a:pt x="2147977" y="242456"/>
                    </a:cubicBezTo>
                    <a:cubicBezTo>
                      <a:pt x="2158581" y="237154"/>
                      <a:pt x="2151301" y="218554"/>
                      <a:pt x="2156603" y="207950"/>
                    </a:cubicBezTo>
                    <a:cubicBezTo>
                      <a:pt x="2163033" y="195090"/>
                      <a:pt x="2174126" y="185143"/>
                      <a:pt x="2182483" y="173444"/>
                    </a:cubicBezTo>
                    <a:cubicBezTo>
                      <a:pt x="2188509" y="165008"/>
                      <a:pt x="2193985" y="156191"/>
                      <a:pt x="2199736" y="147565"/>
                    </a:cubicBezTo>
                    <a:cubicBezTo>
                      <a:pt x="2213037" y="107659"/>
                      <a:pt x="2201725" y="134031"/>
                      <a:pt x="2225615" y="95807"/>
                    </a:cubicBezTo>
                    <a:cubicBezTo>
                      <a:pt x="2241544" y="70320"/>
                      <a:pt x="2251445" y="44080"/>
                      <a:pt x="2277373" y="26795"/>
                    </a:cubicBezTo>
                    <a:cubicBezTo>
                      <a:pt x="2284939" y="21751"/>
                      <a:pt x="2294626" y="21044"/>
                      <a:pt x="2303253" y="18169"/>
                    </a:cubicBezTo>
                    <a:cubicBezTo>
                      <a:pt x="2311879" y="12418"/>
                      <a:pt x="2318828" y="2061"/>
                      <a:pt x="2329132" y="916"/>
                    </a:cubicBezTo>
                    <a:cubicBezTo>
                      <a:pt x="2368978" y="-3511"/>
                      <a:pt x="2379459" y="8589"/>
                      <a:pt x="2406769" y="26795"/>
                    </a:cubicBezTo>
                    <a:cubicBezTo>
                      <a:pt x="2435524" y="23920"/>
                      <a:pt x="2464876" y="24667"/>
                      <a:pt x="2493034" y="18169"/>
                    </a:cubicBezTo>
                    <a:cubicBezTo>
                      <a:pt x="2503136" y="15838"/>
                      <a:pt x="2509287" y="-2934"/>
                      <a:pt x="2518913" y="916"/>
                    </a:cubicBezTo>
                    <a:cubicBezTo>
                      <a:pt x="2530853" y="5692"/>
                      <a:pt x="2530415" y="23920"/>
                      <a:pt x="2536166" y="35422"/>
                    </a:cubicBezTo>
                    <a:cubicBezTo>
                      <a:pt x="2541795" y="57939"/>
                      <a:pt x="2546124" y="85858"/>
                      <a:pt x="2562045" y="104433"/>
                    </a:cubicBezTo>
                    <a:cubicBezTo>
                      <a:pt x="2571402" y="115349"/>
                      <a:pt x="2584852" y="121955"/>
                      <a:pt x="2596551" y="130312"/>
                    </a:cubicBezTo>
                    <a:cubicBezTo>
                      <a:pt x="2621989" y="148482"/>
                      <a:pt x="2667337" y="176045"/>
                      <a:pt x="2691441" y="182071"/>
                    </a:cubicBezTo>
                    <a:cubicBezTo>
                      <a:pt x="2702943" y="184946"/>
                      <a:pt x="2714591" y="187290"/>
                      <a:pt x="2725947" y="190697"/>
                    </a:cubicBezTo>
                    <a:cubicBezTo>
                      <a:pt x="2743366" y="195923"/>
                      <a:pt x="2777705" y="207950"/>
                      <a:pt x="2777705" y="207950"/>
                    </a:cubicBezTo>
                    <a:cubicBezTo>
                      <a:pt x="2786332" y="216576"/>
                      <a:pt x="2791566" y="231739"/>
                      <a:pt x="2803585" y="233829"/>
                    </a:cubicBezTo>
                    <a:cubicBezTo>
                      <a:pt x="2860315" y="243695"/>
                      <a:pt x="2918748" y="237468"/>
                      <a:pt x="2976113" y="242456"/>
                    </a:cubicBezTo>
                    <a:cubicBezTo>
                      <a:pt x="2985172" y="243244"/>
                      <a:pt x="2993366" y="248207"/>
                      <a:pt x="3001992" y="251082"/>
                    </a:cubicBezTo>
                    <a:cubicBezTo>
                      <a:pt x="3010618" y="256833"/>
                      <a:pt x="3018598" y="263698"/>
                      <a:pt x="3027871" y="268335"/>
                    </a:cubicBezTo>
                    <a:cubicBezTo>
                      <a:pt x="3066663" y="287731"/>
                      <a:pt x="3078975" y="287959"/>
                      <a:pt x="3122762" y="294214"/>
                    </a:cubicBezTo>
                    <a:cubicBezTo>
                      <a:pt x="3125608" y="294621"/>
                      <a:pt x="3128513" y="294214"/>
                      <a:pt x="3131388" y="294214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B50E553-28AF-4E78-7B6A-A6280D1FF210}"/>
                  </a:ext>
                </a:extLst>
              </p:cNvPr>
              <p:cNvSpPr/>
              <p:nvPr/>
            </p:nvSpPr>
            <p:spPr>
              <a:xfrm>
                <a:off x="8540151" y="5244860"/>
                <a:ext cx="1613140" cy="329632"/>
              </a:xfrm>
              <a:custGeom>
                <a:avLst/>
                <a:gdLst>
                  <a:gd name="csX0" fmla="*/ 0 w 1613140"/>
                  <a:gd name="csY0" fmla="*/ 267419 h 329632"/>
                  <a:gd name="csX1" fmla="*/ 43132 w 1613140"/>
                  <a:gd name="csY1" fmla="*/ 276046 h 329632"/>
                  <a:gd name="csX2" fmla="*/ 215660 w 1613140"/>
                  <a:gd name="csY2" fmla="*/ 258793 h 329632"/>
                  <a:gd name="csX3" fmla="*/ 258792 w 1613140"/>
                  <a:gd name="csY3" fmla="*/ 224287 h 329632"/>
                  <a:gd name="csX4" fmla="*/ 310551 w 1613140"/>
                  <a:gd name="csY4" fmla="*/ 155276 h 329632"/>
                  <a:gd name="csX5" fmla="*/ 336430 w 1613140"/>
                  <a:gd name="csY5" fmla="*/ 120770 h 329632"/>
                  <a:gd name="csX6" fmla="*/ 379562 w 1613140"/>
                  <a:gd name="csY6" fmla="*/ 34506 h 329632"/>
                  <a:gd name="csX7" fmla="*/ 448574 w 1613140"/>
                  <a:gd name="csY7" fmla="*/ 0 h 329632"/>
                  <a:gd name="csX8" fmla="*/ 483079 w 1613140"/>
                  <a:gd name="csY8" fmla="*/ 60385 h 329632"/>
                  <a:gd name="csX9" fmla="*/ 517585 w 1613140"/>
                  <a:gd name="csY9" fmla="*/ 94891 h 329632"/>
                  <a:gd name="csX10" fmla="*/ 543464 w 1613140"/>
                  <a:gd name="csY10" fmla="*/ 129397 h 329632"/>
                  <a:gd name="csX11" fmla="*/ 577970 w 1613140"/>
                  <a:gd name="csY11" fmla="*/ 163902 h 329632"/>
                  <a:gd name="csX12" fmla="*/ 621102 w 1613140"/>
                  <a:gd name="csY12" fmla="*/ 232914 h 329632"/>
                  <a:gd name="csX13" fmla="*/ 681487 w 1613140"/>
                  <a:gd name="csY13" fmla="*/ 207034 h 329632"/>
                  <a:gd name="csX14" fmla="*/ 724619 w 1613140"/>
                  <a:gd name="csY14" fmla="*/ 172529 h 329632"/>
                  <a:gd name="csX15" fmla="*/ 741872 w 1613140"/>
                  <a:gd name="csY15" fmla="*/ 215661 h 329632"/>
                  <a:gd name="csX16" fmla="*/ 759124 w 1613140"/>
                  <a:gd name="csY16" fmla="*/ 241540 h 329632"/>
                  <a:gd name="csX17" fmla="*/ 767751 w 1613140"/>
                  <a:gd name="csY17" fmla="*/ 267419 h 329632"/>
                  <a:gd name="csX18" fmla="*/ 802257 w 1613140"/>
                  <a:gd name="csY18" fmla="*/ 327804 h 329632"/>
                  <a:gd name="csX19" fmla="*/ 1069675 w 1613140"/>
                  <a:gd name="csY19" fmla="*/ 327804 h 329632"/>
                  <a:gd name="csX20" fmla="*/ 1181819 w 1613140"/>
                  <a:gd name="csY20" fmla="*/ 310551 h 329632"/>
                  <a:gd name="csX21" fmla="*/ 1242204 w 1613140"/>
                  <a:gd name="csY21" fmla="*/ 319178 h 329632"/>
                  <a:gd name="csX22" fmla="*/ 1268083 w 1613140"/>
                  <a:gd name="csY22" fmla="*/ 327804 h 329632"/>
                  <a:gd name="csX23" fmla="*/ 1371600 w 1613140"/>
                  <a:gd name="csY23" fmla="*/ 319178 h 329632"/>
                  <a:gd name="csX24" fmla="*/ 1440611 w 1613140"/>
                  <a:gd name="csY24" fmla="*/ 293298 h 329632"/>
                  <a:gd name="csX25" fmla="*/ 1457864 w 1613140"/>
                  <a:gd name="csY25" fmla="*/ 241540 h 329632"/>
                  <a:gd name="csX26" fmla="*/ 1587260 w 1613140"/>
                  <a:gd name="csY26" fmla="*/ 276046 h 329632"/>
                  <a:gd name="csX27" fmla="*/ 1613140 w 1613140"/>
                  <a:gd name="csY27" fmla="*/ 301925 h 3296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613140" h="329632">
                    <a:moveTo>
                      <a:pt x="0" y="267419"/>
                    </a:moveTo>
                    <a:cubicBezTo>
                      <a:pt x="14377" y="270295"/>
                      <a:pt x="28470" y="276046"/>
                      <a:pt x="43132" y="276046"/>
                    </a:cubicBezTo>
                    <a:cubicBezTo>
                      <a:pt x="171374" y="276046"/>
                      <a:pt x="148430" y="281202"/>
                      <a:pt x="215660" y="258793"/>
                    </a:cubicBezTo>
                    <a:cubicBezTo>
                      <a:pt x="230037" y="247291"/>
                      <a:pt x="245773" y="237306"/>
                      <a:pt x="258792" y="224287"/>
                    </a:cubicBezTo>
                    <a:cubicBezTo>
                      <a:pt x="286353" y="196726"/>
                      <a:pt x="290643" y="183148"/>
                      <a:pt x="310551" y="155276"/>
                    </a:cubicBezTo>
                    <a:cubicBezTo>
                      <a:pt x="318908" y="143577"/>
                      <a:pt x="327804" y="132272"/>
                      <a:pt x="336430" y="120770"/>
                    </a:cubicBezTo>
                    <a:cubicBezTo>
                      <a:pt x="348243" y="85333"/>
                      <a:pt x="351114" y="71082"/>
                      <a:pt x="379562" y="34506"/>
                    </a:cubicBezTo>
                    <a:cubicBezTo>
                      <a:pt x="391233" y="19500"/>
                      <a:pt x="436280" y="4917"/>
                      <a:pt x="448574" y="0"/>
                    </a:cubicBezTo>
                    <a:cubicBezTo>
                      <a:pt x="458366" y="19585"/>
                      <a:pt x="468445" y="43312"/>
                      <a:pt x="483079" y="60385"/>
                    </a:cubicBezTo>
                    <a:cubicBezTo>
                      <a:pt x="493665" y="72735"/>
                      <a:pt x="506874" y="82649"/>
                      <a:pt x="517585" y="94891"/>
                    </a:cubicBezTo>
                    <a:cubicBezTo>
                      <a:pt x="527053" y="105711"/>
                      <a:pt x="533996" y="118577"/>
                      <a:pt x="543464" y="129397"/>
                    </a:cubicBezTo>
                    <a:cubicBezTo>
                      <a:pt x="554175" y="141638"/>
                      <a:pt x="568210" y="150889"/>
                      <a:pt x="577970" y="163902"/>
                    </a:cubicBezTo>
                    <a:cubicBezTo>
                      <a:pt x="594246" y="185604"/>
                      <a:pt x="621102" y="232914"/>
                      <a:pt x="621102" y="232914"/>
                    </a:cubicBezTo>
                    <a:cubicBezTo>
                      <a:pt x="641230" y="224287"/>
                      <a:pt x="666002" y="222519"/>
                      <a:pt x="681487" y="207034"/>
                    </a:cubicBezTo>
                    <a:cubicBezTo>
                      <a:pt x="727483" y="161038"/>
                      <a:pt x="647551" y="153261"/>
                      <a:pt x="724619" y="172529"/>
                    </a:cubicBezTo>
                    <a:cubicBezTo>
                      <a:pt x="730370" y="186906"/>
                      <a:pt x="734947" y="201811"/>
                      <a:pt x="741872" y="215661"/>
                    </a:cubicBezTo>
                    <a:cubicBezTo>
                      <a:pt x="746508" y="224934"/>
                      <a:pt x="754488" y="232267"/>
                      <a:pt x="759124" y="241540"/>
                    </a:cubicBezTo>
                    <a:cubicBezTo>
                      <a:pt x="763191" y="249673"/>
                      <a:pt x="764169" y="259061"/>
                      <a:pt x="767751" y="267419"/>
                    </a:cubicBezTo>
                    <a:cubicBezTo>
                      <a:pt x="780886" y="298067"/>
                      <a:pt x="784929" y="301812"/>
                      <a:pt x="802257" y="327804"/>
                    </a:cubicBezTo>
                    <a:cubicBezTo>
                      <a:pt x="970710" y="303740"/>
                      <a:pt x="707489" y="337593"/>
                      <a:pt x="1069675" y="327804"/>
                    </a:cubicBezTo>
                    <a:cubicBezTo>
                      <a:pt x="1107482" y="326782"/>
                      <a:pt x="1144438" y="316302"/>
                      <a:pt x="1181819" y="310551"/>
                    </a:cubicBezTo>
                    <a:cubicBezTo>
                      <a:pt x="1201947" y="313427"/>
                      <a:pt x="1222266" y="315190"/>
                      <a:pt x="1242204" y="319178"/>
                    </a:cubicBezTo>
                    <a:cubicBezTo>
                      <a:pt x="1251120" y="320961"/>
                      <a:pt x="1258990" y="327804"/>
                      <a:pt x="1268083" y="327804"/>
                    </a:cubicBezTo>
                    <a:cubicBezTo>
                      <a:pt x="1302708" y="327804"/>
                      <a:pt x="1337094" y="322053"/>
                      <a:pt x="1371600" y="319178"/>
                    </a:cubicBezTo>
                    <a:cubicBezTo>
                      <a:pt x="1394604" y="310551"/>
                      <a:pt x="1422350" y="309733"/>
                      <a:pt x="1440611" y="293298"/>
                    </a:cubicBezTo>
                    <a:cubicBezTo>
                      <a:pt x="1454128" y="281132"/>
                      <a:pt x="1457864" y="241540"/>
                      <a:pt x="1457864" y="241540"/>
                    </a:cubicBezTo>
                    <a:cubicBezTo>
                      <a:pt x="1559312" y="261830"/>
                      <a:pt x="1516901" y="247902"/>
                      <a:pt x="1587260" y="276046"/>
                    </a:cubicBezTo>
                    <a:lnTo>
                      <a:pt x="1613140" y="301925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CF2BBD5-550C-996B-E2BB-C56358097E73}"/>
                </a:ext>
              </a:extLst>
            </p:cNvPr>
            <p:cNvCxnSpPr>
              <a:cxnSpLocks/>
              <a:stCxn id="14" idx="1"/>
              <a:endCxn id="10" idx="0"/>
            </p:cNvCxnSpPr>
            <p:nvPr/>
          </p:nvCxnSpPr>
          <p:spPr>
            <a:xfrm flipV="1">
              <a:off x="5046453" y="5301121"/>
              <a:ext cx="370936" cy="5648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BC63BE-4B42-1DC0-1BE5-B4549A6727AC}"/>
                </a:ext>
              </a:extLst>
            </p:cNvPr>
            <p:cNvSpPr txBox="1"/>
            <p:nvPr/>
          </p:nvSpPr>
          <p:spPr>
            <a:xfrm>
              <a:off x="5046453" y="5681272"/>
              <a:ext cx="427870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Generated Synthetic Background Spectra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9AF9954-42F3-0EBA-5AD7-C79FA7A9D8A8}"/>
              </a:ext>
            </a:extLst>
          </p:cNvPr>
          <p:cNvCxnSpPr/>
          <p:nvPr/>
        </p:nvCxnSpPr>
        <p:spPr>
          <a:xfrm>
            <a:off x="10403457" y="3428999"/>
            <a:ext cx="2242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67E65C-183A-9E2E-AEA4-1FB21006F3F1}"/>
              </a:ext>
            </a:extLst>
          </p:cNvPr>
          <p:cNvSpPr txBox="1"/>
          <p:nvPr/>
        </p:nvSpPr>
        <p:spPr>
          <a:xfrm>
            <a:off x="10627743" y="3299732"/>
            <a:ext cx="13888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Synthetic Background</a:t>
            </a:r>
          </a:p>
        </p:txBody>
      </p:sp>
    </p:spTree>
    <p:extLst>
      <p:ext uri="{BB962C8B-B14F-4D97-AF65-F5344CB8AC3E}">
        <p14:creationId xmlns:p14="http://schemas.microsoft.com/office/powerpoint/2010/main" val="2572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3D14-B5EC-71B3-7EE5-A5C0C256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Type/Group Identification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10EB6-18BC-7B97-EA04-940E6974E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Get trigger/gain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Finds match of sample type regex for each relevant keyword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600" dirty="0"/>
              <a:t>First found given priority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600" dirty="0"/>
              <a:t>Order of Operations to reduce false positives/negatives 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sz="1400" dirty="0" err="1"/>
              <a:t>Eg.</a:t>
            </a:r>
            <a:r>
              <a:rPr lang="en-US" sz="1400" dirty="0"/>
              <a:t> buffer only or 1xdpbs assumed to be a background control even if other types identified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sz="1400" dirty="0"/>
              <a:t>More questionable identifications of a type occur later given less priority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600" dirty="0"/>
              <a:t>Priority Order: Current Filename, Keywords (incl $FIL), </a:t>
            </a:r>
            <a:r>
              <a:rPr lang="en-US" sz="1600" dirty="0" err="1"/>
              <a:t>Filepath</a:t>
            </a:r>
            <a:endParaRPr lang="en-US" sz="1600" dirty="0"/>
          </a:p>
          <a:p>
            <a:pPr marL="1428750" lvl="2" indent="-514350">
              <a:buFont typeface="+mj-lt"/>
              <a:buAutoNum type="romanLcPeriod"/>
            </a:pPr>
            <a:r>
              <a:rPr lang="en-US" sz="1400" dirty="0" err="1"/>
              <a:t>Filepath</a:t>
            </a:r>
            <a:r>
              <a:rPr lang="en-US" sz="1400" dirty="0"/>
              <a:t> may be used in cases where all files in a directory are of the same type (exceptions may be identified from a higher priority source such as in the filename or keywords).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600" dirty="0"/>
              <a:t>Each sample type corresponds to a broader sample group (Cells, EV’s, Bead’s, Other)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Match </a:t>
            </a:r>
            <a:r>
              <a:rPr lang="en-US" sz="2000" dirty="0" err="1"/>
              <a:t>filepath</a:t>
            </a:r>
            <a:r>
              <a:rPr lang="en-US" sz="2000" dirty="0"/>
              <a:t> only in cases where no information found in keywords or current filename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Attempt to identify sample group if sample type identification failed. Default to other.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Resolve sample group ambiguity (</a:t>
            </a:r>
            <a:r>
              <a:rPr lang="en-US" sz="2000" dirty="0" err="1"/>
              <a:t>eg</a:t>
            </a:r>
            <a:r>
              <a:rPr lang="en-US" sz="2000" dirty="0"/>
              <a:t> RBC Cells vs RBC EV’s). </a:t>
            </a:r>
            <a:r>
              <a:rPr lang="en-US" sz="2000" dirty="0" err="1"/>
              <a:t>vFRed</a:t>
            </a:r>
            <a:r>
              <a:rPr lang="en-US" sz="2000" dirty="0"/>
              <a:t> if present assumed to be EV.</a:t>
            </a:r>
          </a:p>
        </p:txBody>
      </p:sp>
    </p:spTree>
    <p:extLst>
      <p:ext uri="{BB962C8B-B14F-4D97-AF65-F5344CB8AC3E}">
        <p14:creationId xmlns:p14="http://schemas.microsoft.com/office/powerpoint/2010/main" val="2905501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D184-88A0-0E49-D442-0576D842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Spectra Type (Fluorophore) Identification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EDA52A-C74B-4905-C564-17030C304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Inputs sample type from Sample Identification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Identify fluorophore or fluorophore group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600" dirty="0"/>
              <a:t>Seeks autofluorescence first giving it priority (if something says unstained pe it is assumed unstained).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600" dirty="0"/>
              <a:t>Currently identifies first fluorophore found then returns (</a:t>
            </a:r>
            <a:r>
              <a:rPr lang="en-US" sz="1600" dirty="0" err="1"/>
              <a:t>ToDo</a:t>
            </a:r>
            <a:r>
              <a:rPr lang="en-US" sz="1600" dirty="0"/>
              <a:t> handle multiple fluorophores).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600" dirty="0"/>
              <a:t>Extract fluorophore string identified in text (</a:t>
            </a:r>
            <a:r>
              <a:rPr lang="en-US" sz="1600" dirty="0" err="1"/>
              <a:t>eg</a:t>
            </a:r>
            <a:r>
              <a:rPr lang="en-US" sz="1600" dirty="0"/>
              <a:t> filename or keyword value)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Check if identified fluorophore was a group (</a:t>
            </a:r>
            <a:r>
              <a:rPr lang="en-US" sz="2000" dirty="0" err="1"/>
              <a:t>eg</a:t>
            </a:r>
            <a:r>
              <a:rPr lang="en-US" sz="2000" dirty="0"/>
              <a:t> BV’s) or an individual fluorophore (</a:t>
            </a:r>
            <a:r>
              <a:rPr lang="en-US" sz="2000" dirty="0" err="1"/>
              <a:t>eg</a:t>
            </a:r>
            <a:r>
              <a:rPr lang="en-US" sz="2000" dirty="0"/>
              <a:t> PE).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If necessary identify individual fluorophore from group (</a:t>
            </a:r>
            <a:r>
              <a:rPr lang="en-US" sz="2000" dirty="0" err="1"/>
              <a:t>eg</a:t>
            </a:r>
            <a:r>
              <a:rPr lang="en-US" sz="2000" dirty="0"/>
              <a:t> BV421 or BV605)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Identifies individual fluorophore from a group based on a characteristic specified for each group (</a:t>
            </a:r>
            <a:r>
              <a:rPr lang="en-US" sz="1600" dirty="0" err="1"/>
              <a:t>eg</a:t>
            </a:r>
            <a:r>
              <a:rPr lang="en-US" sz="1600" dirty="0"/>
              <a:t> for “BV421” it would be the “421”)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Generates a standardized proper name for each fluorophore (so unmixed/calibrated parameters names are common for a given fluorophore regardless of the instrument.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3801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7FE5-D155-DCA1-8F7F-AA6AB626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600"/>
          </a:xfrm>
        </p:spPr>
        <p:txBody>
          <a:bodyPr/>
          <a:lstStyle/>
          <a:p>
            <a:r>
              <a:rPr lang="en-US" dirty="0"/>
              <a:t>Lot and COA Values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BE680-13E4-B32A-2D4D-D99741696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28726"/>
            <a:ext cx="6267962" cy="52641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Filter by sample type</a:t>
            </a:r>
          </a:p>
          <a:p>
            <a:pPr lvl="1"/>
            <a:r>
              <a:rPr lang="en-US" sz="1600" dirty="0"/>
              <a:t>Include sample default as well as an option in case of no lot identified for given sample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Filter by fluorophore</a:t>
            </a:r>
          </a:p>
          <a:p>
            <a:pPr lvl="1"/>
            <a:r>
              <a:rPr lang="en-US" sz="1600" dirty="0"/>
              <a:t>Include fluorophore default if present for a given sample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Identify priority lot based on date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Disqualify lots newer than file acquisition date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Set priority as lot where date is closest to acquisition date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Use priority as default chosen menu option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Get all valid lots as additional options for menu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Convert necessary information to strings for filling out widgets</a:t>
            </a:r>
          </a:p>
          <a:p>
            <a:pPr lvl="1"/>
            <a:r>
              <a:rPr lang="en-US" sz="1600" dirty="0"/>
              <a:t>Values may be identified as “blank”, “dim”, “medium”, “bright” or as peak1 – </a:t>
            </a:r>
            <a:r>
              <a:rPr lang="en-US" sz="1600" dirty="0" err="1"/>
              <a:t>peakn</a:t>
            </a:r>
            <a:r>
              <a:rPr lang="en-US" sz="1600" dirty="0"/>
              <a:t> (peak0 if present refers to “blank”)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Fill in option menu and values entry box on </a:t>
            </a:r>
            <a:r>
              <a:rPr lang="en-US" sz="2000" dirty="0" err="1"/>
              <a:t>gui</a:t>
            </a:r>
            <a:r>
              <a:rPr lang="en-US" sz="2000" dirty="0"/>
              <a:t>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1F292-7529-A58F-D309-35C8649B7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842" y="1228726"/>
            <a:ext cx="5220458" cy="49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42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D79CB-D4F0-785D-1D82-F5FE81E0B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63"/>
            <a:ext cx="10515600" cy="850039"/>
          </a:xfrm>
        </p:spPr>
        <p:txBody>
          <a:bodyPr/>
          <a:lstStyle/>
          <a:p>
            <a:r>
              <a:rPr lang="en-US" dirty="0"/>
              <a:t>Residuals and Predicted-Detector/Raw 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4419E-9ED6-57F7-03EB-FC5AA189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733" y="1690688"/>
            <a:ext cx="9974067" cy="15382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C49AF2-6399-5477-56A0-42671E4B3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733" y="3228895"/>
            <a:ext cx="9974067" cy="1538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4AC281-B42B-0100-F9AC-A3B89DC02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733" y="4767102"/>
            <a:ext cx="9974067" cy="153820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059D35-2E36-0B65-2076-D0A034CBC9F8}"/>
              </a:ext>
            </a:extLst>
          </p:cNvPr>
          <p:cNvSpPr/>
          <p:nvPr/>
        </p:nvSpPr>
        <p:spPr>
          <a:xfrm>
            <a:off x="1379733" y="1320800"/>
            <a:ext cx="1733100" cy="49845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P(FL1)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B86581-3BB1-8866-24CF-C432C4064426}"/>
              </a:ext>
            </a:extLst>
          </p:cNvPr>
          <p:cNvSpPr/>
          <p:nvPr/>
        </p:nvSpPr>
        <p:spPr>
          <a:xfrm>
            <a:off x="3112833" y="1318330"/>
            <a:ext cx="1733100" cy="4986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P(FL2)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42E0C9-3186-1459-FBCF-562A427603CC}"/>
              </a:ext>
            </a:extLst>
          </p:cNvPr>
          <p:cNvSpPr/>
          <p:nvPr/>
        </p:nvSpPr>
        <p:spPr>
          <a:xfrm>
            <a:off x="4845933" y="1315861"/>
            <a:ext cx="1733100" cy="4989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P(FL3)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A52957-61AD-7E24-D947-A2E5EE1026C1}"/>
              </a:ext>
            </a:extLst>
          </p:cNvPr>
          <p:cNvSpPr/>
          <p:nvPr/>
        </p:nvSpPr>
        <p:spPr>
          <a:xfrm>
            <a:off x="6579033" y="1315861"/>
            <a:ext cx="1733100" cy="4989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P(FL4)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39BD2-306E-B4A6-54BB-9344BFBBF557}"/>
              </a:ext>
            </a:extLst>
          </p:cNvPr>
          <p:cNvSpPr/>
          <p:nvPr/>
        </p:nvSpPr>
        <p:spPr>
          <a:xfrm>
            <a:off x="8312133" y="1315860"/>
            <a:ext cx="1733100" cy="4989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P(FL5)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C6086A-DA43-A673-BD97-E738D2DC456F}"/>
              </a:ext>
            </a:extLst>
          </p:cNvPr>
          <p:cNvSpPr/>
          <p:nvPr/>
        </p:nvSpPr>
        <p:spPr>
          <a:xfrm>
            <a:off x="10045233" y="1315860"/>
            <a:ext cx="1733100" cy="4989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P(FL6)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D7C45E-D511-5547-DC07-A5579EBD4ADA}"/>
              </a:ext>
            </a:extLst>
          </p:cNvPr>
          <p:cNvSpPr/>
          <p:nvPr/>
        </p:nvSpPr>
        <p:spPr>
          <a:xfrm>
            <a:off x="597160" y="1690688"/>
            <a:ext cx="10832840" cy="153820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Pacific Blue Spectra (sp1)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0CCE02-0F04-0C39-4EC8-2B4B3C4DBFBE}"/>
              </a:ext>
            </a:extLst>
          </p:cNvPr>
          <p:cNvSpPr/>
          <p:nvPr/>
        </p:nvSpPr>
        <p:spPr>
          <a:xfrm>
            <a:off x="597160" y="3227635"/>
            <a:ext cx="10832840" cy="153820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 Spectra (sp2)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DD2A42-AD6E-DFBC-8CAF-0556C5207304}"/>
              </a:ext>
            </a:extLst>
          </p:cNvPr>
          <p:cNvSpPr/>
          <p:nvPr/>
        </p:nvSpPr>
        <p:spPr>
          <a:xfrm>
            <a:off x="597160" y="4767102"/>
            <a:ext cx="10832840" cy="153820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APC Spectra (sp3)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D102B-F66C-C969-F4F0-92593AE60BBA}"/>
              </a:ext>
            </a:extLst>
          </p:cNvPr>
          <p:cNvSpPr txBox="1"/>
          <p:nvPr/>
        </p:nvSpPr>
        <p:spPr>
          <a:xfrm rot="16200000">
            <a:off x="-1227899" y="3244333"/>
            <a:ext cx="311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Unmixed Abundances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755280-4DB1-5F01-696A-5349945DF521}"/>
              </a:ext>
            </a:extLst>
          </p:cNvPr>
          <p:cNvSpPr txBox="1"/>
          <p:nvPr/>
        </p:nvSpPr>
        <p:spPr>
          <a:xfrm>
            <a:off x="597160" y="2379306"/>
            <a:ext cx="78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um1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27E9F5-D0BC-32C4-F046-7C2EB80FCA6F}"/>
              </a:ext>
            </a:extLst>
          </p:cNvPr>
          <p:cNvSpPr txBox="1"/>
          <p:nvPr/>
        </p:nvSpPr>
        <p:spPr>
          <a:xfrm>
            <a:off x="597159" y="3812072"/>
            <a:ext cx="78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um2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57364B-5713-7DEC-74E0-7FE8A96E760F}"/>
              </a:ext>
            </a:extLst>
          </p:cNvPr>
          <p:cNvSpPr txBox="1"/>
          <p:nvPr/>
        </p:nvSpPr>
        <p:spPr>
          <a:xfrm>
            <a:off x="640113" y="5351539"/>
            <a:ext cx="78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um3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B360B3-306B-3BBE-94EA-C6E65B8A4748}"/>
              </a:ext>
            </a:extLst>
          </p:cNvPr>
          <p:cNvSpPr/>
          <p:nvPr/>
        </p:nvSpPr>
        <p:spPr>
          <a:xfrm>
            <a:off x="1379733" y="6305308"/>
            <a:ext cx="9974067" cy="475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Residual(s) (difference between observed </a:t>
            </a:r>
            <a:r>
              <a:rPr lang="en-US"/>
              <a:t>and predicted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2D9322-9C6C-EDD3-B0C6-9A2A65A14E7D}"/>
              </a:ext>
            </a:extLst>
          </p:cNvPr>
          <p:cNvSpPr txBox="1"/>
          <p:nvPr/>
        </p:nvSpPr>
        <p:spPr>
          <a:xfrm>
            <a:off x="1287125" y="964991"/>
            <a:ext cx="6139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 Detector Values by the model</a:t>
            </a:r>
          </a:p>
        </p:txBody>
      </p:sp>
    </p:spTree>
    <p:extLst>
      <p:ext uri="{BB962C8B-B14F-4D97-AF65-F5344CB8AC3E}">
        <p14:creationId xmlns:p14="http://schemas.microsoft.com/office/powerpoint/2010/main" val="2037272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3496</TotalTime>
  <Words>1768</Words>
  <Application>Microsoft Office PowerPoint</Application>
  <PresentationFormat>Widescreen</PresentationFormat>
  <Paragraphs>344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Calibrator Logic Map</vt:lpstr>
      <vt:lpstr>Main Menu</vt:lpstr>
      <vt:lpstr>CalibrationWindow</vt:lpstr>
      <vt:lpstr>DataSet</vt:lpstr>
      <vt:lpstr>Sample</vt:lpstr>
      <vt:lpstr>Fluorophore</vt:lpstr>
      <vt:lpstr>ControlRelations</vt:lpstr>
      <vt:lpstr>SpectralCalibration</vt:lpstr>
      <vt:lpstr>PowerPoint Presentation</vt:lpstr>
      <vt:lpstr>PowerPoint Presentation</vt:lpstr>
      <vt:lpstr>PowerPoint Presentation</vt:lpstr>
      <vt:lpstr>PowerPoint Presentation</vt:lpstr>
      <vt:lpstr>Automated Calibration (WIP)</vt:lpstr>
      <vt:lpstr>PowerPoint Presentation</vt:lpstr>
      <vt:lpstr>Appendix</vt:lpstr>
      <vt:lpstr>Dimmest Blank – Missing Autofluorescence</vt:lpstr>
      <vt:lpstr>Synthetic Background – Missing SSC Buffer</vt:lpstr>
      <vt:lpstr>Sample Type/Group Identification Logic</vt:lpstr>
      <vt:lpstr>Spectra Type (Fluorophore) Identification</vt:lpstr>
      <vt:lpstr>Lot and COA Values Identification</vt:lpstr>
      <vt:lpstr>Residuals and Predicted-Detector/Raw Plots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Nolan</dc:creator>
  <cp:lastModifiedBy>Patrick Nolan</cp:lastModifiedBy>
  <cp:revision>26</cp:revision>
  <dcterms:created xsi:type="dcterms:W3CDTF">2025-12-05T18:06:17Z</dcterms:created>
  <dcterms:modified xsi:type="dcterms:W3CDTF">2026-01-26T01:16:05Z</dcterms:modified>
</cp:coreProperties>
</file>