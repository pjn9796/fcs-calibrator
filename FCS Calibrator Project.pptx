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2644994"/>
            <a:ext cx="6217920" cy="2676807"/>
          </a:xfrm>
        </p:spPr>
        <p:txBody>
          <a:bodyPr anchor="b">
            <a:normAutofit/>
          </a:bodyPr>
          <a:lstStyle>
            <a:lvl1pPr algn="l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5327228"/>
            <a:ext cx="6217920" cy="1005840"/>
          </a:xfrm>
        </p:spPr>
        <p:txBody>
          <a:bodyPr>
            <a:normAutofit/>
          </a:bodyPr>
          <a:lstStyle>
            <a:lvl1pPr marL="0" indent="0" algn="l">
              <a:buNone/>
              <a:defRPr sz="170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2345" y="6341640"/>
            <a:ext cx="1952815" cy="535517"/>
          </a:xfrm>
        </p:spPr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7240" y="6341641"/>
            <a:ext cx="4148519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49215" y="2098606"/>
            <a:ext cx="1845945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7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6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1105184"/>
            <a:ext cx="6761988" cy="4109505"/>
          </a:xfrm>
        </p:spPr>
        <p:txBody>
          <a:bodyPr anchor="b">
            <a:normAutofit/>
          </a:bodyPr>
          <a:lstStyle>
            <a:lvl1pPr algn="r"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206" y="5341198"/>
            <a:ext cx="6761989" cy="1986063"/>
          </a:xfrm>
        </p:spPr>
        <p:txBody>
          <a:bodyPr>
            <a:normAutofit/>
          </a:bodyPr>
          <a:lstStyle>
            <a:lvl1pPr marL="0" indent="0" algn="r">
              <a:buNone/>
              <a:defRPr sz="1870">
                <a:solidFill>
                  <a:schemeClr val="tx1">
                    <a:tint val="75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0097" y="558802"/>
            <a:ext cx="567097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5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207" y="3218688"/>
            <a:ext cx="3323992" cy="5967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45784" y="3218688"/>
            <a:ext cx="3321409" cy="59679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5945" y="1117600"/>
            <a:ext cx="5421249" cy="189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088" y="3202910"/>
            <a:ext cx="3131110" cy="1208404"/>
          </a:xfrm>
        </p:spPr>
        <p:txBody>
          <a:bodyPr anchor="b">
            <a:normAutofit/>
          </a:bodyPr>
          <a:lstStyle>
            <a:lvl1pPr marL="0" indent="0">
              <a:buNone/>
              <a:defRPr sz="238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" y="4594579"/>
            <a:ext cx="3323992" cy="4592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38666" y="3202910"/>
            <a:ext cx="3128528" cy="1208404"/>
          </a:xfrm>
        </p:spPr>
        <p:txBody>
          <a:bodyPr anchor="b">
            <a:normAutofit/>
          </a:bodyPr>
          <a:lstStyle>
            <a:lvl1pPr marL="0" indent="0">
              <a:buNone/>
              <a:defRPr sz="238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5784" y="4594579"/>
            <a:ext cx="3321410" cy="4592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98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1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2235200"/>
            <a:ext cx="2623185" cy="2346960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3270" y="1095248"/>
            <a:ext cx="3963924" cy="809142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4582160"/>
            <a:ext cx="2623185" cy="460451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9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2235200"/>
            <a:ext cx="3464371" cy="2346960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5895" y="1101822"/>
            <a:ext cx="3123099" cy="8084850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4582160"/>
            <a:ext cx="3464371" cy="4604512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2" y="6889463"/>
            <a:ext cx="6763010" cy="1201721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202" y="1432985"/>
            <a:ext cx="6757721" cy="4996892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206" y="8091183"/>
            <a:ext cx="6761988" cy="1095489"/>
          </a:xfrm>
        </p:spPr>
        <p:txBody>
          <a:bodyPr/>
          <a:lstStyle>
            <a:lvl1pPr marL="0" indent="0" algn="l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1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206" y="1105182"/>
            <a:ext cx="6761988" cy="4110285"/>
          </a:xfrm>
        </p:spPr>
        <p:txBody>
          <a:bodyPr anchor="ctr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30" y="5352063"/>
            <a:ext cx="6606540" cy="1951916"/>
          </a:xfrm>
        </p:spPr>
        <p:txBody>
          <a:bodyPr anchor="ctr"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0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098" y="1105183"/>
            <a:ext cx="6471603" cy="4042477"/>
          </a:xfrm>
        </p:spPr>
        <p:txBody>
          <a:bodyPr anchor="ctr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831214" y="5147660"/>
            <a:ext cx="6115369" cy="651850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30" y="6122743"/>
            <a:ext cx="6611939" cy="1204522"/>
          </a:xfrm>
        </p:spPr>
        <p:txBody>
          <a:bodyPr anchor="ctr">
            <a:normAutofit/>
          </a:bodyPr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6510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96739" y="1184656"/>
            <a:ext cx="388620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723" y="4431284"/>
            <a:ext cx="388620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8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822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930" y="1649564"/>
            <a:ext cx="6608565" cy="3684025"/>
          </a:xfrm>
        </p:spPr>
        <p:txBody>
          <a:bodyPr anchor="b"/>
          <a:lstStyle>
            <a:lvl1pPr algn="l"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2923" y="5350864"/>
            <a:ext cx="6607567" cy="1466498"/>
          </a:xfrm>
        </p:spPr>
        <p:txBody>
          <a:bodyPr anchor="t"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27849" y="555697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5206" y="555697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80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845946" y="1117601"/>
            <a:ext cx="5421248" cy="1912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207" y="3229717"/>
            <a:ext cx="2176272" cy="905403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05206" y="4260028"/>
            <a:ext cx="2176272" cy="4926649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06901" y="3228621"/>
            <a:ext cx="2176272" cy="918917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05664" y="4259300"/>
            <a:ext cx="2176272" cy="4927372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90921" y="3216203"/>
            <a:ext cx="2176272" cy="918917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090922" y="4260028"/>
            <a:ext cx="2176272" cy="4926649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504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845947" y="1117600"/>
            <a:ext cx="5424686" cy="18999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05206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05206" y="3419856"/>
            <a:ext cx="2176272" cy="2210707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05206" y="7034285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98092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798091" y="3419856"/>
            <a:ext cx="2176272" cy="2214464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97229" y="7034283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094360" y="6032899"/>
            <a:ext cx="2176272" cy="1001389"/>
          </a:xfrm>
        </p:spPr>
        <p:txBody>
          <a:bodyPr anchor="b">
            <a:noAutofit/>
          </a:bodyPr>
          <a:lstStyle>
            <a:lvl1pPr marL="0" indent="0">
              <a:buNone/>
              <a:defRPr sz="2040" b="0">
                <a:solidFill>
                  <a:schemeClr val="tx1"/>
                </a:solidFill>
              </a:defRPr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094359" y="3419858"/>
            <a:ext cx="2176272" cy="2213081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094281" y="7034281"/>
            <a:ext cx="2176272" cy="2152388"/>
          </a:xfrm>
        </p:spPr>
        <p:txBody>
          <a:bodyPr anchor="t">
            <a:normAutofit/>
          </a:bodyPr>
          <a:lstStyle>
            <a:lvl1pPr marL="0" indent="0">
              <a:buNone/>
              <a:defRPr sz="119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3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206" y="3218688"/>
            <a:ext cx="6761988" cy="59679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399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27264"/>
            <a:ext cx="7772400" cy="2731136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55601" y="1095869"/>
            <a:ext cx="1311593" cy="623139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206" y="1094318"/>
            <a:ext cx="5336330" cy="62329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7849" y="558802"/>
            <a:ext cx="1855661" cy="535517"/>
          </a:xfrm>
        </p:spPr>
        <p:txBody>
          <a:bodyPr/>
          <a:lstStyle>
            <a:lvl1pPr algn="r">
              <a:defRPr/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06" y="558802"/>
            <a:ext cx="4106058" cy="535517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0096" y="558802"/>
            <a:ext cx="567098" cy="535517"/>
          </a:xfrm>
        </p:spPr>
        <p:txBody>
          <a:bodyPr/>
          <a:lstStyle/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9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58559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45945" y="1121080"/>
            <a:ext cx="5421249" cy="189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206" y="3218688"/>
            <a:ext cx="6761988" cy="5967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50395" y="9322649"/>
            <a:ext cx="1816799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91477-76E8-404E-B186-A1BFC2EE5F3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5206" y="9321908"/>
            <a:ext cx="4828604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6412" y="558802"/>
            <a:ext cx="1680782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12ECB-0035-452A-8BF7-744A4C05FD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7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r" defTabSz="777240" rtl="0" eaLnBrk="1" latinLnBrk="0" hangingPunct="1">
        <a:lnSpc>
          <a:spcPct val="90000"/>
        </a:lnSpc>
        <a:spcBef>
          <a:spcPct val="0"/>
        </a:spcBef>
        <a:buNone/>
        <a:defRPr sz="3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A2AB-7B2B-2447-6508-2F0D806D4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1643167"/>
          </a:xfrm>
        </p:spPr>
        <p:txBody>
          <a:bodyPr/>
          <a:lstStyle/>
          <a:p>
            <a:r>
              <a:rPr lang="en-US" dirty="0"/>
              <a:t>FCS Calibrator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59D59-1FFC-729B-9797-A4F6A4564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838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F79C-2CB9-4AAB-065A-0BC19CEE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Supported Cytometers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4D1B-84A8-DA9C-FCB3-3C13B3CCC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206" y="3218688"/>
            <a:ext cx="6761988" cy="4426712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Supported Instruments: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S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LX</a:t>
            </a:r>
          </a:p>
          <a:p>
            <a:r>
              <a:rPr lang="en-US" dirty="0" err="1">
                <a:solidFill>
                  <a:schemeClr val="bg1"/>
                </a:solidFill>
              </a:rPr>
              <a:t>CytoFLEX</a:t>
            </a:r>
            <a:r>
              <a:rPr lang="en-US" dirty="0">
                <a:solidFill>
                  <a:schemeClr val="bg1"/>
                </a:solidFill>
              </a:rPr>
              <a:t> Nano</a:t>
            </a:r>
          </a:p>
          <a:p>
            <a:r>
              <a:rPr lang="en-US" dirty="0">
                <a:solidFill>
                  <a:schemeClr val="bg1"/>
                </a:solidFill>
              </a:rPr>
              <a:t>Cytek Aurora 5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Aurora 4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Aurora 3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Northern Lights 3 Laser</a:t>
            </a:r>
          </a:p>
          <a:p>
            <a:r>
              <a:rPr lang="en-US" dirty="0">
                <a:solidFill>
                  <a:schemeClr val="bg1"/>
                </a:solidFill>
              </a:rPr>
              <a:t>Cytek Northern Lights 1 Laser</a:t>
            </a:r>
          </a:p>
          <a:p>
            <a:r>
              <a:rPr lang="en-US" dirty="0">
                <a:solidFill>
                  <a:schemeClr val="bg1"/>
                </a:solidFill>
              </a:rPr>
              <a:t>Supports both unmixed and raw data for Cytek Instruments</a:t>
            </a:r>
          </a:p>
        </p:txBody>
      </p:sp>
    </p:spTree>
    <p:extLst>
      <p:ext uri="{BB962C8B-B14F-4D97-AF65-F5344CB8AC3E}">
        <p14:creationId xmlns:p14="http://schemas.microsoft.com/office/powerpoint/2010/main" val="356457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8668-BE7B-DD2F-FEA9-298B0561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Does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584B8D-A333-1312-82E6-C9EB84A72901}"/>
              </a:ext>
            </a:extLst>
          </p:cNvPr>
          <p:cNvSpPr txBox="1">
            <a:spLocks/>
          </p:cNvSpPr>
          <p:nvPr/>
        </p:nvSpPr>
        <p:spPr>
          <a:xfrm>
            <a:off x="606806" y="3023509"/>
            <a:ext cx="6761988" cy="4494891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18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Supported Instruments</a:t>
            </a:r>
          </a:p>
          <a:p>
            <a:r>
              <a:rPr lang="en-US" dirty="0">
                <a:solidFill>
                  <a:schemeClr val="bg1"/>
                </a:solidFill>
              </a:rPr>
              <a:t>Compensates or Unmixes flow cytometer data (.fcs)</a:t>
            </a:r>
          </a:p>
          <a:p>
            <a:r>
              <a:rPr lang="en-US" dirty="0">
                <a:solidFill>
                  <a:schemeClr val="bg1"/>
                </a:solidFill>
              </a:rPr>
              <a:t>Calibrates data from arbitrary units to real units that are comparable across instruments</a:t>
            </a:r>
          </a:p>
          <a:p>
            <a:r>
              <a:rPr lang="en-US" dirty="0">
                <a:solidFill>
                  <a:schemeClr val="bg1"/>
                </a:solidFill>
              </a:rPr>
              <a:t>Types of Calibration:</a:t>
            </a:r>
          </a:p>
          <a:p>
            <a:r>
              <a:rPr lang="en-US" dirty="0">
                <a:solidFill>
                  <a:schemeClr val="bg1"/>
                </a:solidFill>
              </a:rPr>
              <a:t>MESF Calibration: Calibrates data to units of Mean Equivalent Soluble Fluorophore</a:t>
            </a:r>
          </a:p>
          <a:p>
            <a:r>
              <a:rPr lang="en-US" dirty="0">
                <a:solidFill>
                  <a:schemeClr val="bg1"/>
                </a:solidFill>
              </a:rPr>
              <a:t>ABC Calibration: Calibrates data to units of Antibody Binding Capacity</a:t>
            </a:r>
          </a:p>
          <a:p>
            <a:r>
              <a:rPr lang="en-US" dirty="0">
                <a:solidFill>
                  <a:schemeClr val="bg1"/>
                </a:solidFill>
              </a:rPr>
              <a:t>Vesicle Size Calibration: Calibrates data to get size parameters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Requires dye that stains proportionate to surface area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Parameters: Diameter (nm), Surface Area (nm2), Volume (nm3)</a:t>
            </a:r>
          </a:p>
        </p:txBody>
      </p:sp>
    </p:spTree>
    <p:extLst>
      <p:ext uri="{BB962C8B-B14F-4D97-AF65-F5344CB8AC3E}">
        <p14:creationId xmlns:p14="http://schemas.microsoft.com/office/powerpoint/2010/main" val="1995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60B0C-A888-F135-8136-D344C08B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202E-8FC7-F5DF-D963-0DB5DEB4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Features</a:t>
            </a:r>
            <a:br>
              <a:rPr lang="en-US" dirty="0"/>
            </a:br>
            <a:r>
              <a:rPr lang="en-US" dirty="0"/>
              <a:t>(as of 10/21/2025)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891DC5-B54B-C7AC-E5B4-08AB306A14D2}"/>
              </a:ext>
            </a:extLst>
          </p:cNvPr>
          <p:cNvSpPr txBox="1">
            <a:spLocks/>
          </p:cNvSpPr>
          <p:nvPr/>
        </p:nvSpPr>
        <p:spPr>
          <a:xfrm>
            <a:off x="606806" y="3023509"/>
            <a:ext cx="6761988" cy="5650592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94310" indent="-19431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187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3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Calibrator Features</a:t>
            </a:r>
          </a:p>
          <a:p>
            <a:r>
              <a:rPr lang="en-US" dirty="0">
                <a:solidFill>
                  <a:schemeClr val="bg1"/>
                </a:solidFill>
              </a:rPr>
              <a:t>Detects fluorophores and sample types by reading keywords and filenames.</a:t>
            </a:r>
          </a:p>
          <a:p>
            <a:r>
              <a:rPr lang="en-US" dirty="0">
                <a:solidFill>
                  <a:schemeClr val="bg1"/>
                </a:solidFill>
              </a:rPr>
              <a:t>Assigns files as controls and configures how they relate to each other for unmixing based on fluorophore and sample tag values.</a:t>
            </a:r>
          </a:p>
          <a:p>
            <a:r>
              <a:rPr lang="en-US" dirty="0">
                <a:solidFill>
                  <a:schemeClr val="bg1"/>
                </a:solidFill>
              </a:rPr>
              <a:t>Functionality to mitigate issues caused by lacking appropriate unstained or background controls.</a:t>
            </a:r>
          </a:p>
          <a:p>
            <a:r>
              <a:rPr lang="en-US" dirty="0">
                <a:solidFill>
                  <a:schemeClr val="bg1"/>
                </a:solidFill>
              </a:rPr>
              <a:t>Generated plots for gating controls based on sample type and fluorophore (automated gating not implemented yet).</a:t>
            </a:r>
          </a:p>
          <a:p>
            <a:r>
              <a:rPr lang="en-US" dirty="0">
                <a:solidFill>
                  <a:schemeClr val="bg1"/>
                </a:solidFill>
              </a:rPr>
              <a:t>Unmixes or Compensates the data if the input data was not already unmixed/compensated.</a:t>
            </a:r>
          </a:p>
          <a:p>
            <a:r>
              <a:rPr lang="en-US" dirty="0">
                <a:solidFill>
                  <a:schemeClr val="bg1"/>
                </a:solidFill>
              </a:rPr>
              <a:t>Assigns the unmixed/compensated parameters a calibration type based on fluorophore. Generates plots for gating where applicable.</a:t>
            </a:r>
          </a:p>
          <a:p>
            <a:r>
              <a:rPr lang="en-US" dirty="0">
                <a:solidFill>
                  <a:schemeClr val="bg1"/>
                </a:solidFill>
              </a:rPr>
              <a:t>Exports the calibrated datafiles along with metadata describing everything that was done. </a:t>
            </a:r>
          </a:p>
        </p:txBody>
      </p:sp>
    </p:spTree>
    <p:extLst>
      <p:ext uri="{BB962C8B-B14F-4D97-AF65-F5344CB8AC3E}">
        <p14:creationId xmlns:p14="http://schemas.microsoft.com/office/powerpoint/2010/main" val="281538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058D-45F7-A899-F541-FEECE0F0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945" y="206681"/>
            <a:ext cx="5421249" cy="809320"/>
          </a:xfrm>
        </p:spPr>
        <p:txBody>
          <a:bodyPr/>
          <a:lstStyle/>
          <a:p>
            <a:r>
              <a:rPr lang="en-US" dirty="0"/>
              <a:t>How It 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123FF-43F1-BF60-CAFA-762E1AC6B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00"/>
          <a:stretch>
            <a:fillRect/>
          </a:stretch>
        </p:blipFill>
        <p:spPr>
          <a:xfrm>
            <a:off x="3343282" y="1382244"/>
            <a:ext cx="1812918" cy="1578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8BBD7B-8ADE-8D5C-E858-464CD92D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9" y="1382243"/>
            <a:ext cx="3193613" cy="1578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6F1F41-3FE8-B91B-967E-5D22ABE27A0A}"/>
              </a:ext>
            </a:extLst>
          </p:cNvPr>
          <p:cNvSpPr txBox="1"/>
          <p:nvPr/>
        </p:nvSpPr>
        <p:spPr>
          <a:xfrm>
            <a:off x="149669" y="1105243"/>
            <a:ext cx="5006532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1. Reads keywords and filenames to identify sample type and fluorophore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DAF269A-827C-3FBE-D4F7-D431A981E1DF}"/>
              </a:ext>
            </a:extLst>
          </p:cNvPr>
          <p:cNvGrpSpPr/>
          <p:nvPr/>
        </p:nvGrpSpPr>
        <p:grpSpPr>
          <a:xfrm>
            <a:off x="1371600" y="3699906"/>
            <a:ext cx="6284248" cy="1796626"/>
            <a:chOff x="778773" y="3484132"/>
            <a:chExt cx="6711975" cy="19442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1D7ED6-5816-E6BD-B143-670BE31C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710"/>
            <a:stretch>
              <a:fillRect/>
            </a:stretch>
          </p:blipFill>
          <p:spPr>
            <a:xfrm>
              <a:off x="1042760" y="3484133"/>
              <a:ext cx="3959679" cy="194419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E5E711-F21E-1860-49BD-869E56FC6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000"/>
            <a:stretch>
              <a:fillRect/>
            </a:stretch>
          </p:blipFill>
          <p:spPr>
            <a:xfrm>
              <a:off x="5002439" y="3484132"/>
              <a:ext cx="2488309" cy="194419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8BD942-2A78-3C5F-E292-E511F14CC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4913"/>
            <a:stretch>
              <a:fillRect/>
            </a:stretch>
          </p:blipFill>
          <p:spPr>
            <a:xfrm>
              <a:off x="778773" y="3484133"/>
              <a:ext cx="2243827" cy="1944199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6A904D4-D0CB-C750-E54C-FFCB29F0C8A0}"/>
              </a:ext>
            </a:extLst>
          </p:cNvPr>
          <p:cNvSpPr txBox="1"/>
          <p:nvPr/>
        </p:nvSpPr>
        <p:spPr>
          <a:xfrm>
            <a:off x="1371600" y="3405237"/>
            <a:ext cx="6284247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2. User draws a sample gate for each type of sample and peak gates for each fluorophore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69357A-F4F1-4461-442F-AE061A899534}"/>
              </a:ext>
            </a:extLst>
          </p:cNvPr>
          <p:cNvSpPr txBox="1"/>
          <p:nvPr/>
        </p:nvSpPr>
        <p:spPr>
          <a:xfrm>
            <a:off x="136969" y="6235870"/>
            <a:ext cx="4612398" cy="27699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3. Unmixes/Compensates and calibrates the data (where applicable).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50AF9C-C556-495E-1EE1-52E33F74DAC4}"/>
              </a:ext>
            </a:extLst>
          </p:cNvPr>
          <p:cNvGrpSpPr/>
          <p:nvPr/>
        </p:nvGrpSpPr>
        <p:grpSpPr>
          <a:xfrm>
            <a:off x="149669" y="6512869"/>
            <a:ext cx="4599698" cy="3338850"/>
            <a:chOff x="149669" y="6512869"/>
            <a:chExt cx="4536198" cy="342287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68F43C7-4C34-B0F7-F7F3-F139CA647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669" y="6512869"/>
              <a:ext cx="2268099" cy="171143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9211500-0B6C-BDBD-4071-BB0DC0BE6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669" y="8224307"/>
              <a:ext cx="2268099" cy="171143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5DB5B9-620C-145A-A00A-9E52A7D96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17768" y="6512869"/>
              <a:ext cx="2268099" cy="1711438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22EA7FE-9E30-769D-9EC6-3AFFB152C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1809"/>
            <a:stretch>
              <a:fillRect/>
            </a:stretch>
          </p:blipFill>
          <p:spPr>
            <a:xfrm>
              <a:off x="2375204" y="8224307"/>
              <a:ext cx="2310663" cy="1711438"/>
            </a:xfrm>
            <a:prstGeom prst="rect">
              <a:avLst/>
            </a:prstGeom>
          </p:spPr>
        </p:pic>
      </p:grpSp>
      <p:sp>
        <p:nvSpPr>
          <p:cNvPr id="33" name="Arrow: Bent-Up 32">
            <a:extLst>
              <a:ext uri="{FF2B5EF4-FFF2-40B4-BE49-F238E27FC236}">
                <a16:creationId xmlns:a16="http://schemas.microsoft.com/office/drawing/2014/main" id="{C2E4ACD1-D7B4-6738-0600-A7BA452B0C80}"/>
              </a:ext>
            </a:extLst>
          </p:cNvPr>
          <p:cNvSpPr/>
          <p:nvPr/>
        </p:nvSpPr>
        <p:spPr>
          <a:xfrm flipV="1">
            <a:off x="5156200" y="2003416"/>
            <a:ext cx="1380695" cy="140181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Bent-Up 33">
            <a:extLst>
              <a:ext uri="{FF2B5EF4-FFF2-40B4-BE49-F238E27FC236}">
                <a16:creationId xmlns:a16="http://schemas.microsoft.com/office/drawing/2014/main" id="{4440C2BC-3ADC-B6E7-A749-7BDAF52821C1}"/>
              </a:ext>
            </a:extLst>
          </p:cNvPr>
          <p:cNvSpPr/>
          <p:nvPr/>
        </p:nvSpPr>
        <p:spPr>
          <a:xfrm flipH="1" flipV="1">
            <a:off x="149668" y="3900160"/>
            <a:ext cx="1221931" cy="2335709"/>
          </a:xfrm>
          <a:prstGeom prst="bentUpArrow">
            <a:avLst>
              <a:gd name="adj1" fmla="val 25000"/>
              <a:gd name="adj2" fmla="val 2552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Bent-Up 34">
            <a:extLst>
              <a:ext uri="{FF2B5EF4-FFF2-40B4-BE49-F238E27FC236}">
                <a16:creationId xmlns:a16="http://schemas.microsoft.com/office/drawing/2014/main" id="{68B0C415-3F73-E202-4D69-79BDA27600F2}"/>
              </a:ext>
            </a:extLst>
          </p:cNvPr>
          <p:cNvSpPr/>
          <p:nvPr/>
        </p:nvSpPr>
        <p:spPr>
          <a:xfrm flipV="1">
            <a:off x="4749367" y="6512869"/>
            <a:ext cx="1380695" cy="1401819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E67833-523A-208C-5800-8307EA8BD6EB}"/>
              </a:ext>
            </a:extLst>
          </p:cNvPr>
          <p:cNvSpPr txBox="1"/>
          <p:nvPr/>
        </p:nvSpPr>
        <p:spPr>
          <a:xfrm>
            <a:off x="5049895" y="7914688"/>
            <a:ext cx="2343009" cy="64633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4. Export Data with calibrated parameters to use in 3</a:t>
            </a:r>
            <a:r>
              <a:rPr lang="en-US" sz="1200" b="1" baseline="30000" dirty="0">
                <a:solidFill>
                  <a:schemeClr val="bg1"/>
                </a:solidFill>
                <a:latin typeface="Aptos Narrow" panose="020B0004020202020204" pitchFamily="34" charset="0"/>
              </a:rPr>
              <a:t>rd</a:t>
            </a:r>
            <a:r>
              <a:rPr lang="en-US" sz="1200" b="1" dirty="0">
                <a:solidFill>
                  <a:schemeClr val="bg1"/>
                </a:solidFill>
                <a:latin typeface="Aptos Narrow" panose="020B0004020202020204" pitchFamily="34" charset="0"/>
              </a:rPr>
              <a:t> party software.</a:t>
            </a:r>
          </a:p>
        </p:txBody>
      </p:sp>
    </p:spTree>
    <p:extLst>
      <p:ext uri="{BB962C8B-B14F-4D97-AF65-F5344CB8AC3E}">
        <p14:creationId xmlns:p14="http://schemas.microsoft.com/office/powerpoint/2010/main" val="362541609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139</TotalTime>
  <Words>315</Words>
  <Application>Microsoft Office PowerPoint</Application>
  <PresentationFormat>Custom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 Narrow</vt:lpstr>
      <vt:lpstr>Arial</vt:lpstr>
      <vt:lpstr>Century Gothic</vt:lpstr>
      <vt:lpstr>Vapor Trail</vt:lpstr>
      <vt:lpstr>FCS Calibrator</vt:lpstr>
      <vt:lpstr>Supported Cytometers</vt:lpstr>
      <vt:lpstr>What it Does</vt:lpstr>
      <vt:lpstr>Current Features (as of 10/21/2025)</vt:lpstr>
      <vt:lpstr>How It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Nolan</dc:creator>
  <cp:lastModifiedBy>Patrick Nolan</cp:lastModifiedBy>
  <cp:revision>5</cp:revision>
  <dcterms:created xsi:type="dcterms:W3CDTF">2025-10-21T17:15:54Z</dcterms:created>
  <dcterms:modified xsi:type="dcterms:W3CDTF">2025-10-21T19:35:46Z</dcterms:modified>
</cp:coreProperties>
</file>